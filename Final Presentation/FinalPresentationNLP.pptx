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87"/>
    <p:restoredTop sz="94610"/>
  </p:normalViewPr>
  <p:slideViewPr>
    <p:cSldViewPr snapToGrid="0" snapToObjects="1">
      <p:cViewPr varScale="1">
        <p:scale>
          <a:sx n="127" d="100"/>
          <a:sy n="127" d="100"/>
        </p:scale>
        <p:origin x="6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8010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opener. Christopher leads. 'We built a multi-agent AI Dungeon Master. Three specialists, one project. Mazin handled the world's knowledge layer. I handled orchestration. Agnes handled validation and rules. We'll show you live in 20 minutes how the agents work together — and we'll be honest about what's done and what's not.'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'Running an RPG isn't one job, it's seven. If you ask one model to juggle all of them, you watch reliability degrade in real time. Characters forget themselves, dead NPCs come back, quests contradict. We've all seen this when chatting with a single LLM for too long. So our bet was: don't use one AI. Use a team of small specialists, each doing one bounded thing.' (~75 sec)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'Here's the whole architecture in one diagram. The Supervisor — that's deterministic Python — receives a player action, classifies it, the right specialist agents run, the Critic validates whatever they propose, and only then does the State Updater commit changes to canonical state. The Narrator wraps it all up. Single-writer state is the rule that prevents most of the failure modes from the previous slide.' (~90 sec)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'Here are our six specialists. Five are real, one isn't yet. Lore, NPC, Quest are real PydanticAI agents that take structured input and return structured output — Mazin built or wired those up. Rules and Critic are Agnes's. The Narrator we left for next phase. This honesty matters in the demo, because you'll see Narrator marked red in the live UI.' (~50 sec) Then hand off to Mazin.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Mazin: 'Christopher just walked through the architecture. I'm going to talk about the half that makes the world feel real — what the system knows, how it retrieves the right knowledge for each turn, and the actual content the player interacts with.' (~10 sec)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Mazin: 'Four pieces. The Quest Agent — same PydanticAI pattern as the Lore and NPC agents. Seed data — the actual world content. Retrieval — the glue that turns state plus seed data into clean agent inputs. And a demo, both notebook and browser-based, that proves it all works end to end. Each of these is one file or one folder you can find in the repo.' (~50 sec)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Mazin: 'Concrete walkthrough. Player types: I walk up to the bar and ask Mara. Seven steps. Supervisor resets the turn. Router classifies it as dialogue. Retrieval — that's mine — builds a Pydantic input object for Mara: her name, role, personality, current scene. The NPC Agent runs — this is the only LLM call so far. Critic validates. State Updater commits any disposition shift. Narrator would wrap it in prose, when we build that. The point: every step has one job and they happen in a fixed order. That's what makes the system debuggable.' (~75 sec)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Mazin: 'The world is The Shattered Vale. The starting village is Oakshade. The starting quest is The Missing Scout. The reason this matters for the architecture isn't the story — it's the branches. Three different paths to the same quest. That's what justifies having a Quest Agent in the first place. A simple checklist doesn't need agents. A branching quest with consequences does. And speaking of consequences — three NPCs make those branches real.' (~60 sec)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Mazin: 'Three NPCs. Each one designed for a different role in the system. Mara — quest-giver, the natural starting point. Corvin — the alternative path, the temptation. Harlan — the in-between character, the clue source. But the interesting part isn't the individuals — it's the tension between them. Mara doesn't trust Corvin. Corvin won't speak in front of Mara. Harlan trades with both. That tension is what makes the demo prove anything. When you talk to Mara then to Corvin, the AI has to produce two completely different voices. Same code, same agent, different personality data.' (~65 sec)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Mazin: 'Switch to the browser tab.'
DEMO SCRIPT (3-4 minutes):
1. Open the page. Show the layout — scene on the left, Agent Council and Quest Log on the right.
2. Click 'Approach the bar and ask Mara'. While the agents animate, narrate: 'Watch — Router fires, then NPC, then Quest. Three real LLM calls, in real time.'
3. Read Mara's response aloud. Note her voice — guarded, watchful.
4. Click 'Sit across from the hooded man'. Read Corvin's response. Pause. Say: 'Same code, same agent. Different personality data.'
5. Type a freeform action: 'I ask Mara about the missing scout.' Send.
6. Point at the red 'not built' agents. 'Critic, State Updater, Narrator are still next-phase. We'd rather show you what works than fake what doesn't.'
Then switch back to slides for Agnes.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Agnes: 'Mazin showed you the world and the agents that voice it. My piece is the half that catches mistakes — making sure the system is correct, not just creative.' (~10 sec)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Agnes: 'Three pieces. The Rules Agent — handles the dice-and-skill-check side of any RPG. The Critic Agent — the safety net that validates proposals before anything becomes real. The test suite — pytest coverage so the system keeps working as the team makes changes. Without these, the creative agents Mazin showed you would slowly produce contradictions until the world fell apart.' (~50 sec)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Agnes: 'Honest scope. On the left — eight things that work today. On the right — seven things that are clearly next. The biggest gap is the Narrator and the State Updater. Those are scoped, not blocked. The architecture has clear seams to plug them in. We'd rather show you a partial system that actually runs than oversell a complete one that doesn't.' (~50 sec)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Agnes (or whoever closes): 'The architecture pattern is the actual contribution. A deterministic supervisor, bounded specialist agents, single-writer state — that pattern shows up in customer service, code review, medical triage. We picked an RPG because it stress-tests everything: long-running state, character consistency, branching outcomes, rule enforcement. If the pattern holds for an AI Dungeon Master, it holds for serious problems too.' (~30 sec) Then open Q&amp;A.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1097280" y="1280160"/>
            <a:ext cx="9144000" cy="365760"/>
          </a:xfrm>
          <a:prstGeom prst="rect">
            <a:avLst/>
          </a:prstGeom>
          <a:noFill/>
          <a:ln/>
        </p:spPr>
        <p:txBody>
          <a:bodyPr wrap="square" lIns="0" tIns="0" rIns="0" bIns="0" rtlCol="0" anchor="ctr"/>
          <a:lstStyle/>
          <a:p>
            <a:pPr marL="0" indent="0">
              <a:buNone/>
            </a:pPr>
            <a:r>
              <a:rPr lang="en-US" sz="1300" b="1" kern="0" spc="800" dirty="0">
                <a:solidFill>
                  <a:srgbClr val="C8A24B"/>
                </a:solidFill>
                <a:latin typeface="Calibri" pitchFamily="34" charset="0"/>
                <a:ea typeface="Calibri" pitchFamily="34" charset="-122"/>
                <a:cs typeface="Calibri" pitchFamily="34" charset="-120"/>
              </a:rPr>
              <a:t>CAP6640 · GROUP PROJECT</a:t>
            </a:r>
            <a:endParaRPr lang="en-US" sz="1300" dirty="0"/>
          </a:p>
        </p:txBody>
      </p:sp>
      <p:sp>
        <p:nvSpPr>
          <p:cNvPr id="4" name="Text 2"/>
          <p:cNvSpPr/>
          <p:nvPr/>
        </p:nvSpPr>
        <p:spPr>
          <a:xfrm>
            <a:off x="1097280" y="1783080"/>
            <a:ext cx="10058400" cy="1280160"/>
          </a:xfrm>
          <a:prstGeom prst="rect">
            <a:avLst/>
          </a:prstGeom>
          <a:noFill/>
          <a:ln/>
        </p:spPr>
        <p:txBody>
          <a:bodyPr wrap="square" lIns="0" tIns="0" rIns="0" bIns="0" rtlCol="0" anchor="ctr"/>
          <a:lstStyle/>
          <a:p>
            <a:pPr marL="0" indent="0">
              <a:buNone/>
            </a:pPr>
            <a:r>
              <a:rPr lang="en-US" sz="6400" b="1" i="1" dirty="0">
                <a:solidFill>
                  <a:srgbClr val="F1E6CF"/>
                </a:solidFill>
                <a:latin typeface="Georgia" pitchFamily="34" charset="0"/>
                <a:ea typeface="Georgia" pitchFamily="34" charset="-122"/>
                <a:cs typeface="Georgia" pitchFamily="34" charset="-120"/>
              </a:rPr>
              <a:t>The Shattered Vale</a:t>
            </a:r>
            <a:endParaRPr lang="en-US" sz="6400" dirty="0"/>
          </a:p>
        </p:txBody>
      </p:sp>
      <p:sp>
        <p:nvSpPr>
          <p:cNvPr id="5" name="Text 3"/>
          <p:cNvSpPr/>
          <p:nvPr/>
        </p:nvSpPr>
        <p:spPr>
          <a:xfrm>
            <a:off x="1097280" y="3246120"/>
            <a:ext cx="10058400" cy="548640"/>
          </a:xfrm>
          <a:prstGeom prst="rect">
            <a:avLst/>
          </a:prstGeom>
          <a:noFill/>
          <a:ln/>
        </p:spPr>
        <p:txBody>
          <a:bodyPr wrap="square" lIns="0" tIns="0" rIns="0" bIns="0" rtlCol="0" anchor="ctr"/>
          <a:lstStyle/>
          <a:p>
            <a:pPr marL="0" indent="0">
              <a:buNone/>
            </a:pPr>
            <a:r>
              <a:rPr lang="en-US" sz="2200" dirty="0">
                <a:solidFill>
                  <a:srgbClr val="B9A985"/>
                </a:solidFill>
                <a:latin typeface="Calibri" pitchFamily="34" charset="0"/>
                <a:ea typeface="Calibri" pitchFamily="34" charset="-122"/>
                <a:cs typeface="Calibri" pitchFamily="34" charset="-120"/>
              </a:rPr>
              <a:t>An agentic, multi-agent AI game master</a:t>
            </a:r>
            <a:endParaRPr lang="en-US" sz="2200" dirty="0"/>
          </a:p>
        </p:txBody>
      </p:sp>
      <p:sp>
        <p:nvSpPr>
          <p:cNvPr id="6" name="Text 4"/>
          <p:cNvSpPr/>
          <p:nvPr/>
        </p:nvSpPr>
        <p:spPr>
          <a:xfrm>
            <a:off x="1097280" y="4023360"/>
            <a:ext cx="914400" cy="548640"/>
          </a:xfrm>
          <a:prstGeom prst="rect">
            <a:avLst/>
          </a:prstGeom>
          <a:noFill/>
          <a:ln/>
        </p:spPr>
        <p:txBody>
          <a:bodyPr wrap="square" lIns="0" tIns="0" rIns="0" bIns="0" rtlCol="0" anchor="ctr"/>
          <a:lstStyle/>
          <a:p>
            <a:pPr marL="0" indent="0">
              <a:buNone/>
            </a:pPr>
            <a:r>
              <a:rPr lang="en-US" sz="3200" dirty="0">
                <a:solidFill>
                  <a:srgbClr val="9B2A3A"/>
                </a:solidFill>
                <a:latin typeface="Georgia" pitchFamily="34" charset="0"/>
                <a:ea typeface="Georgia" pitchFamily="34" charset="-122"/>
                <a:cs typeface="Georgia" pitchFamily="34" charset="-120"/>
              </a:rPr>
              <a:t>❦</a:t>
            </a:r>
            <a:endParaRPr lang="en-US" sz="3200" dirty="0"/>
          </a:p>
        </p:txBody>
      </p:sp>
      <p:sp>
        <p:nvSpPr>
          <p:cNvPr id="7" name="Text 5"/>
          <p:cNvSpPr/>
          <p:nvPr/>
        </p:nvSpPr>
        <p:spPr>
          <a:xfrm>
            <a:off x="1097280" y="5029200"/>
            <a:ext cx="10058400" cy="457200"/>
          </a:xfrm>
          <a:prstGeom prst="rect">
            <a:avLst/>
          </a:prstGeom>
          <a:noFill/>
          <a:ln/>
        </p:spPr>
        <p:txBody>
          <a:bodyPr wrap="square" lIns="0" tIns="0" rIns="0" bIns="0" rtlCol="0" anchor="ctr"/>
          <a:lstStyle/>
          <a:p>
            <a:pPr marL="0" indent="0">
              <a:buNone/>
            </a:pPr>
            <a:r>
              <a:rPr lang="en-US" sz="1400" b="1" kern="0" spc="400" dirty="0">
                <a:solidFill>
                  <a:srgbClr val="C8A24B"/>
                </a:solidFill>
                <a:latin typeface="Calibri" pitchFamily="34" charset="0"/>
                <a:ea typeface="Calibri" pitchFamily="34" charset="-122"/>
                <a:cs typeface="Calibri" pitchFamily="34" charset="-120"/>
              </a:rPr>
              <a:t>MAZIN BASHIR</a:t>
            </a:r>
            <a:r>
              <a:rPr lang="en-US" sz="1400" kern="0" spc="400" dirty="0">
                <a:solidFill>
                  <a:srgbClr val="746851"/>
                </a:solidFill>
                <a:latin typeface="Calibri" pitchFamily="34" charset="0"/>
                <a:ea typeface="Calibri" pitchFamily="34" charset="-122"/>
                <a:cs typeface="Calibri" pitchFamily="34" charset="-120"/>
              </a:rPr>
              <a:t>   ·   </a:t>
            </a:r>
            <a:r>
              <a:rPr lang="en-US" sz="1400" b="1" kern="0" spc="400" dirty="0">
                <a:solidFill>
                  <a:srgbClr val="C8A24B"/>
                </a:solidFill>
                <a:latin typeface="Calibri" pitchFamily="34" charset="0"/>
                <a:ea typeface="Calibri" pitchFamily="34" charset="-122"/>
                <a:cs typeface="Calibri" pitchFamily="34" charset="-120"/>
              </a:rPr>
              <a:t>CHRISTOPHER ELLIS</a:t>
            </a:r>
            <a:r>
              <a:rPr lang="en-US" sz="1400" kern="0" spc="400" dirty="0">
                <a:solidFill>
                  <a:srgbClr val="746851"/>
                </a:solidFill>
                <a:latin typeface="Calibri" pitchFamily="34" charset="0"/>
                <a:ea typeface="Calibri" pitchFamily="34" charset="-122"/>
                <a:cs typeface="Calibri" pitchFamily="34" charset="-120"/>
              </a:rPr>
              <a:t>   ·   </a:t>
            </a:r>
            <a:r>
              <a:rPr lang="en-US" sz="1400" b="1" kern="0" spc="400" dirty="0">
                <a:solidFill>
                  <a:srgbClr val="C8A24B"/>
                </a:solidFill>
                <a:latin typeface="Calibri" pitchFamily="34" charset="0"/>
                <a:ea typeface="Calibri" pitchFamily="34" charset="-122"/>
                <a:cs typeface="Calibri" pitchFamily="34" charset="-120"/>
              </a:rPr>
              <a:t>AGNES SITHOLE</a:t>
            </a:r>
            <a:endParaRPr lang="en-US" sz="1400" dirty="0"/>
          </a:p>
        </p:txBody>
      </p:sp>
      <p:sp>
        <p:nvSpPr>
          <p:cNvPr id="8" name="Text 6"/>
          <p:cNvSpPr/>
          <p:nvPr/>
        </p:nvSpPr>
        <p:spPr>
          <a:xfrm>
            <a:off x="1097280" y="5486400"/>
            <a:ext cx="10058400" cy="365760"/>
          </a:xfrm>
          <a:prstGeom prst="rect">
            <a:avLst/>
          </a:prstGeom>
          <a:noFill/>
          <a:ln/>
        </p:spPr>
        <p:txBody>
          <a:bodyPr wrap="square" lIns="0" tIns="0" rIns="0" bIns="0" rtlCol="0" anchor="ctr"/>
          <a:lstStyle/>
          <a:p>
            <a:pPr marL="0" indent="0">
              <a:buNone/>
            </a:pPr>
            <a:r>
              <a:rPr lang="en-US" sz="1200" i="1" dirty="0">
                <a:solidFill>
                  <a:srgbClr val="746851"/>
                </a:solidFill>
                <a:latin typeface="Calibri" pitchFamily="34" charset="0"/>
                <a:ea typeface="Calibri" pitchFamily="34" charset="-122"/>
                <a:cs typeface="Calibri" pitchFamily="34" charset="-120"/>
              </a:rPr>
              <a:t>Knowledge layer  ·  Orchestration  ·  Validation &amp; rules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One AI cannot run a tabletop RPG.</a:t>
            </a:r>
            <a:endParaRPr lang="en-US" sz="3200" dirty="0"/>
          </a:p>
        </p:txBody>
      </p:sp>
      <p:sp>
        <p:nvSpPr>
          <p:cNvPr id="5" name="Text 3"/>
          <p:cNvSpPr/>
          <p:nvPr/>
        </p:nvSpPr>
        <p:spPr>
          <a:xfrm>
            <a:off x="548640" y="1965960"/>
            <a:ext cx="11094415" cy="411480"/>
          </a:xfrm>
          <a:prstGeom prst="rect">
            <a:avLst/>
          </a:prstGeom>
          <a:noFill/>
          <a:ln/>
        </p:spPr>
        <p:txBody>
          <a:bodyPr wrap="square" lIns="0" tIns="0" rIns="0" bIns="0" rtlCol="0" anchor="ctr"/>
          <a:lstStyle/>
          <a:p>
            <a:pPr marL="0" indent="0">
              <a:buNone/>
            </a:pPr>
            <a:r>
              <a:rPr lang="en-US" sz="1600" i="1" dirty="0">
                <a:solidFill>
                  <a:srgbClr val="746851"/>
                </a:solidFill>
                <a:latin typeface="Calibri" pitchFamily="34" charset="0"/>
                <a:ea typeface="Calibri" pitchFamily="34" charset="-122"/>
                <a:cs typeface="Calibri" pitchFamily="34" charset="-120"/>
              </a:rPr>
              <a:t>Or: why you need a writers' room, not a single narrator.</a:t>
            </a:r>
            <a:endParaRPr lang="en-US" sz="1600" dirty="0"/>
          </a:p>
        </p:txBody>
      </p:sp>
      <p:sp>
        <p:nvSpPr>
          <p:cNvPr id="6" name="Shape 4"/>
          <p:cNvSpPr/>
          <p:nvPr/>
        </p:nvSpPr>
        <p:spPr>
          <a:xfrm>
            <a:off x="548640" y="2286000"/>
            <a:ext cx="5364328" cy="3474720"/>
          </a:xfrm>
          <a:prstGeom prst="rect">
            <a:avLst/>
          </a:prstGeom>
          <a:solidFill>
            <a:srgbClr val="FFFFFF"/>
          </a:solidFill>
          <a:ln w="9525">
            <a:solidFill>
              <a:srgbClr val="DDD0B0"/>
            </a:solidFill>
            <a:prstDash val="solid"/>
          </a:ln>
          <a:effectLst>
            <a:outerShdw blurRad="101600" dist="12700" dir="5400000" algn="bl" rotWithShape="0">
              <a:srgbClr val="000000">
                <a:alpha val="5000"/>
              </a:srgbClr>
            </a:outerShdw>
          </a:effectLst>
        </p:spPr>
        <p:txBody>
          <a:bodyPr/>
          <a:lstStyle/>
          <a:p>
            <a:endParaRPr lang="en-US"/>
          </a:p>
        </p:txBody>
      </p:sp>
      <p:sp>
        <p:nvSpPr>
          <p:cNvPr id="7" name="Text 5"/>
          <p:cNvSpPr/>
          <p:nvPr/>
        </p:nvSpPr>
        <p:spPr>
          <a:xfrm>
            <a:off x="822960" y="2514600"/>
            <a:ext cx="4815688" cy="320040"/>
          </a:xfrm>
          <a:prstGeom prst="rect">
            <a:avLst/>
          </a:prstGeom>
          <a:noFill/>
          <a:ln/>
        </p:spPr>
        <p:txBody>
          <a:bodyPr wrap="square" lIns="0" tIns="0" rIns="0" bIns="0" rtlCol="0" anchor="ctr"/>
          <a:lstStyle/>
          <a:p>
            <a:pPr marL="0" indent="0">
              <a:buNone/>
            </a:pPr>
            <a:r>
              <a:rPr lang="en-US" sz="1100" b="1" kern="0" spc="500" dirty="0">
                <a:solidFill>
                  <a:srgbClr val="9B2A3A"/>
                </a:solidFill>
                <a:latin typeface="Calibri" pitchFamily="34" charset="0"/>
                <a:ea typeface="Calibri" pitchFamily="34" charset="-122"/>
                <a:cs typeface="Calibri" pitchFamily="34" charset="-120"/>
              </a:rPr>
              <a:t>ONE AI, ALL THE JOBS</a:t>
            </a:r>
            <a:endParaRPr lang="en-US" sz="1100" dirty="0"/>
          </a:p>
        </p:txBody>
      </p:sp>
      <p:sp>
        <p:nvSpPr>
          <p:cNvPr id="8" name="Text 6"/>
          <p:cNvSpPr/>
          <p:nvPr/>
        </p:nvSpPr>
        <p:spPr>
          <a:xfrm>
            <a:off x="822960" y="2926080"/>
            <a:ext cx="4815688" cy="256032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Describe the world</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Voice every character</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Track quests and progression</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Enforce rules and dice rolls</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Catch contradictions</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Update the official world record</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Write final player-facing text</a:t>
            </a:r>
            <a:endParaRPr lang="en-US" sz="1400" dirty="0"/>
          </a:p>
        </p:txBody>
      </p:sp>
      <p:sp>
        <p:nvSpPr>
          <p:cNvPr id="9" name="Shape 7"/>
          <p:cNvSpPr/>
          <p:nvPr/>
        </p:nvSpPr>
        <p:spPr>
          <a:xfrm>
            <a:off x="6278728" y="2286000"/>
            <a:ext cx="5364328" cy="3474720"/>
          </a:xfrm>
          <a:prstGeom prst="rect">
            <a:avLst/>
          </a:prstGeom>
          <a:solidFill>
            <a:srgbClr val="241B14"/>
          </a:solidFill>
          <a:ln w="12700">
            <a:solidFill>
              <a:srgbClr val="C8A24B"/>
            </a:solidFill>
            <a:prstDash val="solid"/>
          </a:ln>
          <a:effectLst>
            <a:outerShdw blurRad="101600" dist="12700" dir="5400000" algn="bl" rotWithShape="0">
              <a:srgbClr val="000000">
                <a:alpha val="10000"/>
              </a:srgbClr>
            </a:outerShdw>
          </a:effectLst>
        </p:spPr>
        <p:txBody>
          <a:bodyPr/>
          <a:lstStyle/>
          <a:p>
            <a:endParaRPr lang="en-US"/>
          </a:p>
        </p:txBody>
      </p:sp>
      <p:sp>
        <p:nvSpPr>
          <p:cNvPr id="10" name="Text 8"/>
          <p:cNvSpPr/>
          <p:nvPr/>
        </p:nvSpPr>
        <p:spPr>
          <a:xfrm>
            <a:off x="6553048" y="2514600"/>
            <a:ext cx="4815688" cy="320040"/>
          </a:xfrm>
          <a:prstGeom prst="rect">
            <a:avLst/>
          </a:prstGeom>
          <a:noFill/>
          <a:ln/>
        </p:spPr>
        <p:txBody>
          <a:bodyPr wrap="square" lIns="0" tIns="0" rIns="0" bIns="0" rtlCol="0" anchor="ctr"/>
          <a:lstStyle/>
          <a:p>
            <a:pPr marL="0" indent="0">
              <a:buNone/>
            </a:pPr>
            <a:r>
              <a:rPr lang="en-US" sz="1100" b="1" kern="0" spc="500" dirty="0">
                <a:solidFill>
                  <a:srgbClr val="C8A24B"/>
                </a:solidFill>
                <a:latin typeface="Calibri" pitchFamily="34" charset="0"/>
                <a:ea typeface="Calibri" pitchFamily="34" charset="-122"/>
                <a:cs typeface="Calibri" pitchFamily="34" charset="-120"/>
              </a:rPr>
              <a:t>WHAT BREAKS</a:t>
            </a:r>
            <a:endParaRPr lang="en-US" sz="1100" dirty="0"/>
          </a:p>
        </p:txBody>
      </p:sp>
      <p:sp>
        <p:nvSpPr>
          <p:cNvPr id="11" name="Text 9"/>
          <p:cNvSpPr/>
          <p:nvPr/>
        </p:nvSpPr>
        <p:spPr>
          <a:xfrm>
            <a:off x="6553048" y="2926080"/>
            <a:ext cx="4815688" cy="256032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F1E6CF"/>
                </a:solidFill>
                <a:latin typeface="Calibri" pitchFamily="34" charset="0"/>
                <a:ea typeface="Calibri" pitchFamily="34" charset="-122"/>
                <a:cs typeface="Calibri" pitchFamily="34" charset="-120"/>
              </a:rPr>
              <a:t>Characters forget who they are</a:t>
            </a:r>
            <a:endParaRPr lang="en-US" sz="1400" dirty="0"/>
          </a:p>
          <a:p>
            <a:pPr marL="342900" indent="-342900">
              <a:spcAft>
                <a:spcPts val="600"/>
              </a:spcAft>
              <a:buSzPct val="100000"/>
              <a:buChar char="•"/>
            </a:pPr>
            <a:r>
              <a:rPr lang="en-US" sz="1400" dirty="0">
                <a:solidFill>
                  <a:srgbClr val="F1E6CF"/>
                </a:solidFill>
                <a:latin typeface="Calibri" pitchFamily="34" charset="0"/>
                <a:ea typeface="Calibri" pitchFamily="34" charset="-122"/>
                <a:cs typeface="Calibri" pitchFamily="34" charset="-120"/>
              </a:rPr>
              <a:t>Dead NPCs come back to life</a:t>
            </a:r>
            <a:endParaRPr lang="en-US" sz="1400" dirty="0"/>
          </a:p>
          <a:p>
            <a:pPr marL="342900" indent="-342900">
              <a:spcAft>
                <a:spcPts val="600"/>
              </a:spcAft>
              <a:buSzPct val="100000"/>
              <a:buChar char="•"/>
            </a:pPr>
            <a:r>
              <a:rPr lang="en-US" sz="1400" dirty="0">
                <a:solidFill>
                  <a:srgbClr val="F1E6CF"/>
                </a:solidFill>
                <a:latin typeface="Calibri" pitchFamily="34" charset="0"/>
                <a:ea typeface="Calibri" pitchFamily="34" charset="-122"/>
                <a:cs typeface="Calibri" pitchFamily="34" charset="-120"/>
              </a:rPr>
              <a:t>Quest objectives contradict</a:t>
            </a:r>
            <a:endParaRPr lang="en-US" sz="1400" dirty="0"/>
          </a:p>
          <a:p>
            <a:pPr marL="342900" indent="-342900">
              <a:spcAft>
                <a:spcPts val="600"/>
              </a:spcAft>
              <a:buSzPct val="100000"/>
              <a:buChar char="•"/>
            </a:pPr>
            <a:r>
              <a:rPr lang="en-US" sz="1400" dirty="0">
                <a:solidFill>
                  <a:srgbClr val="F1E6CF"/>
                </a:solidFill>
                <a:latin typeface="Calibri" pitchFamily="34" charset="0"/>
                <a:ea typeface="Calibri" pitchFamily="34" charset="-122"/>
                <a:cs typeface="Calibri" pitchFamily="34" charset="-120"/>
              </a:rPr>
              <a:t>Rules drift across turns</a:t>
            </a:r>
            <a:endParaRPr lang="en-US" sz="1400" dirty="0"/>
          </a:p>
          <a:p>
            <a:pPr marL="342900" indent="-342900">
              <a:spcAft>
                <a:spcPts val="600"/>
              </a:spcAft>
              <a:buSzPct val="100000"/>
              <a:buChar char="•"/>
            </a:pPr>
            <a:r>
              <a:rPr lang="en-US" sz="1400" dirty="0">
                <a:solidFill>
                  <a:srgbClr val="F1E6CF"/>
                </a:solidFill>
                <a:latin typeface="Calibri" pitchFamily="34" charset="0"/>
                <a:ea typeface="Calibri" pitchFamily="34" charset="-122"/>
                <a:cs typeface="Calibri" pitchFamily="34" charset="-120"/>
              </a:rPr>
              <a:t>World facts mutate silently</a:t>
            </a:r>
            <a:endParaRPr lang="en-US" sz="1400" dirty="0"/>
          </a:p>
          <a:p>
            <a:pPr marL="342900" indent="-342900">
              <a:spcAft>
                <a:spcPts val="600"/>
              </a:spcAft>
              <a:buSzPct val="100000"/>
              <a:buChar char="•"/>
            </a:pPr>
            <a:r>
              <a:rPr lang="en-US" sz="1400" dirty="0">
                <a:solidFill>
                  <a:srgbClr val="F1E6CF"/>
                </a:solidFill>
                <a:latin typeface="Calibri" pitchFamily="34" charset="0"/>
                <a:ea typeface="Calibri" pitchFamily="34" charset="-122"/>
                <a:cs typeface="Calibri" pitchFamily="34" charset="-120"/>
              </a:rPr>
              <a:t>Outputs become unstructured prose</a:t>
            </a:r>
            <a:endParaRPr lang="en-US" sz="1400" dirty="0"/>
          </a:p>
          <a:p>
            <a:pPr marL="342900" indent="-342900">
              <a:spcAft>
                <a:spcPts val="600"/>
              </a:spcAft>
              <a:buSzPct val="100000"/>
              <a:buChar char="•"/>
            </a:pPr>
            <a:r>
              <a:rPr lang="en-US" sz="1400" dirty="0">
                <a:solidFill>
                  <a:srgbClr val="F1E6CF"/>
                </a:solidFill>
                <a:latin typeface="Calibri" pitchFamily="34" charset="0"/>
                <a:ea typeface="Calibri" pitchFamily="34" charset="-122"/>
                <a:cs typeface="Calibri" pitchFamily="34" charset="-120"/>
              </a:rPr>
              <a:t>Debugging is impossible</a:t>
            </a:r>
            <a:endParaRPr lang="en-US" sz="1400" dirty="0"/>
          </a:p>
        </p:txBody>
      </p:sp>
      <p:sp>
        <p:nvSpPr>
          <p:cNvPr id="12" name="Text 10"/>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13" name="Text 11"/>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THE ARCHITECTURE</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Supervisor + specialists + canonical state.</a:t>
            </a:r>
            <a:endParaRPr lang="en-US" sz="3200" dirty="0"/>
          </a:p>
        </p:txBody>
      </p:sp>
      <p:sp>
        <p:nvSpPr>
          <p:cNvPr id="5" name="Shape 3"/>
          <p:cNvSpPr/>
          <p:nvPr/>
        </p:nvSpPr>
        <p:spPr>
          <a:xfrm>
            <a:off x="548640" y="2468880"/>
            <a:ext cx="1962851" cy="1325880"/>
          </a:xfrm>
          <a:prstGeom prst="rect">
            <a:avLst/>
          </a:prstGeom>
          <a:solidFill>
            <a:srgbClr val="FFFFFF"/>
          </a:solidFill>
          <a:ln w="19050">
            <a:solidFill>
              <a:srgbClr val="4C8A6E"/>
            </a:solidFill>
            <a:prstDash val="solid"/>
          </a:ln>
          <a:effectLst>
            <a:outerShdw blurRad="76200" dist="12700" dir="5400000" algn="bl" rotWithShape="0">
              <a:srgbClr val="000000">
                <a:alpha val="8000"/>
              </a:srgbClr>
            </a:outerShdw>
          </a:effectLst>
        </p:spPr>
        <p:txBody>
          <a:bodyPr/>
          <a:lstStyle/>
          <a:p>
            <a:endParaRPr lang="en-US"/>
          </a:p>
        </p:txBody>
      </p:sp>
      <p:sp>
        <p:nvSpPr>
          <p:cNvPr id="6" name="Shape 4"/>
          <p:cNvSpPr/>
          <p:nvPr/>
        </p:nvSpPr>
        <p:spPr>
          <a:xfrm>
            <a:off x="548640" y="2468880"/>
            <a:ext cx="1962851" cy="91440"/>
          </a:xfrm>
          <a:prstGeom prst="rect">
            <a:avLst/>
          </a:prstGeom>
          <a:solidFill>
            <a:srgbClr val="4C8A6E"/>
          </a:solidFill>
          <a:ln w="12700">
            <a:solidFill>
              <a:srgbClr val="4C8A6E"/>
            </a:solidFill>
            <a:prstDash val="solid"/>
          </a:ln>
        </p:spPr>
        <p:txBody>
          <a:bodyPr/>
          <a:lstStyle/>
          <a:p>
            <a:endParaRPr lang="en-US"/>
          </a:p>
        </p:txBody>
      </p:sp>
      <p:sp>
        <p:nvSpPr>
          <p:cNvPr id="7" name="Text 5"/>
          <p:cNvSpPr/>
          <p:nvPr/>
        </p:nvSpPr>
        <p:spPr>
          <a:xfrm>
            <a:off x="594360" y="2743200"/>
            <a:ext cx="1871411" cy="411480"/>
          </a:xfrm>
          <a:prstGeom prst="rect">
            <a:avLst/>
          </a:prstGeom>
          <a:noFill/>
          <a:ln/>
        </p:spPr>
        <p:txBody>
          <a:bodyPr wrap="square" lIns="0" tIns="0" rIns="0" bIns="0" rtlCol="0" anchor="ctr"/>
          <a:lstStyle/>
          <a:p>
            <a:pPr marL="0" indent="0" algn="ctr">
              <a:buNone/>
            </a:pPr>
            <a:r>
              <a:rPr lang="en-US" sz="1300" b="1" kern="0" spc="200" dirty="0">
                <a:solidFill>
                  <a:srgbClr val="2A2218"/>
                </a:solidFill>
                <a:latin typeface="Calibri" pitchFamily="34" charset="0"/>
                <a:ea typeface="Calibri" pitchFamily="34" charset="-122"/>
                <a:cs typeface="Calibri" pitchFamily="34" charset="-120"/>
              </a:rPr>
              <a:t>PLAYER</a:t>
            </a:r>
            <a:endParaRPr lang="en-US" sz="1300" dirty="0"/>
          </a:p>
        </p:txBody>
      </p:sp>
      <p:sp>
        <p:nvSpPr>
          <p:cNvPr id="8" name="Text 6"/>
          <p:cNvSpPr/>
          <p:nvPr/>
        </p:nvSpPr>
        <p:spPr>
          <a:xfrm>
            <a:off x="594360" y="3182112"/>
            <a:ext cx="1871411" cy="548640"/>
          </a:xfrm>
          <a:prstGeom prst="rect">
            <a:avLst/>
          </a:prstGeom>
          <a:noFill/>
          <a:ln/>
        </p:spPr>
        <p:txBody>
          <a:bodyPr wrap="square" lIns="0" tIns="0" rIns="0" bIns="0" rtlCol="0" anchor="ctr"/>
          <a:lstStyle/>
          <a:p>
            <a:pPr marL="0" indent="0" algn="ctr">
              <a:buNone/>
            </a:pPr>
            <a:r>
              <a:rPr lang="en-US" sz="1000" i="1" dirty="0">
                <a:solidFill>
                  <a:srgbClr val="746851"/>
                </a:solidFill>
                <a:latin typeface="Calibri" pitchFamily="34" charset="0"/>
                <a:ea typeface="Calibri" pitchFamily="34" charset="-122"/>
                <a:cs typeface="Calibri" pitchFamily="34" charset="-120"/>
              </a:rPr>
              <a:t>free text input</a:t>
            </a:r>
            <a:endParaRPr lang="en-US" sz="1000" dirty="0"/>
          </a:p>
        </p:txBody>
      </p:sp>
      <p:sp>
        <p:nvSpPr>
          <p:cNvPr id="9" name="Shape 7"/>
          <p:cNvSpPr/>
          <p:nvPr/>
        </p:nvSpPr>
        <p:spPr>
          <a:xfrm>
            <a:off x="2557211" y="3131820"/>
            <a:ext cx="228600" cy="0"/>
          </a:xfrm>
          <a:prstGeom prst="line">
            <a:avLst/>
          </a:prstGeom>
          <a:noFill/>
          <a:ln w="19050">
            <a:solidFill>
              <a:srgbClr val="8A7335"/>
            </a:solidFill>
            <a:prstDash val="solid"/>
            <a:tailEnd type="triangle"/>
          </a:ln>
        </p:spPr>
        <p:txBody>
          <a:bodyPr/>
          <a:lstStyle/>
          <a:p>
            <a:endParaRPr lang="en-US"/>
          </a:p>
        </p:txBody>
      </p:sp>
      <p:sp>
        <p:nvSpPr>
          <p:cNvPr id="10" name="Shape 8"/>
          <p:cNvSpPr/>
          <p:nvPr/>
        </p:nvSpPr>
        <p:spPr>
          <a:xfrm>
            <a:off x="2831531" y="2468880"/>
            <a:ext cx="1962851" cy="1325880"/>
          </a:xfrm>
          <a:prstGeom prst="rect">
            <a:avLst/>
          </a:prstGeom>
          <a:solidFill>
            <a:srgbClr val="FFFFFF"/>
          </a:solidFill>
          <a:ln w="19050">
            <a:solidFill>
              <a:srgbClr val="2A2218"/>
            </a:solidFill>
            <a:prstDash val="solid"/>
          </a:ln>
          <a:effectLst>
            <a:outerShdw blurRad="76200" dist="12700" dir="5400000" algn="bl" rotWithShape="0">
              <a:srgbClr val="000000">
                <a:alpha val="8000"/>
              </a:srgbClr>
            </a:outerShdw>
          </a:effectLst>
        </p:spPr>
        <p:txBody>
          <a:bodyPr/>
          <a:lstStyle/>
          <a:p>
            <a:endParaRPr lang="en-US"/>
          </a:p>
        </p:txBody>
      </p:sp>
      <p:sp>
        <p:nvSpPr>
          <p:cNvPr id="11" name="Shape 9"/>
          <p:cNvSpPr/>
          <p:nvPr/>
        </p:nvSpPr>
        <p:spPr>
          <a:xfrm>
            <a:off x="2831531" y="2468880"/>
            <a:ext cx="1962851" cy="91440"/>
          </a:xfrm>
          <a:prstGeom prst="rect">
            <a:avLst/>
          </a:prstGeom>
          <a:solidFill>
            <a:srgbClr val="2A2218"/>
          </a:solidFill>
          <a:ln w="12700">
            <a:solidFill>
              <a:srgbClr val="2A2218"/>
            </a:solidFill>
            <a:prstDash val="solid"/>
          </a:ln>
        </p:spPr>
        <p:txBody>
          <a:bodyPr/>
          <a:lstStyle/>
          <a:p>
            <a:endParaRPr lang="en-US"/>
          </a:p>
        </p:txBody>
      </p:sp>
      <p:sp>
        <p:nvSpPr>
          <p:cNvPr id="12" name="Text 10"/>
          <p:cNvSpPr/>
          <p:nvPr/>
        </p:nvSpPr>
        <p:spPr>
          <a:xfrm>
            <a:off x="2877251" y="2743200"/>
            <a:ext cx="1871411" cy="411480"/>
          </a:xfrm>
          <a:prstGeom prst="rect">
            <a:avLst/>
          </a:prstGeom>
          <a:noFill/>
          <a:ln/>
        </p:spPr>
        <p:txBody>
          <a:bodyPr wrap="square" lIns="0" tIns="0" rIns="0" bIns="0" rtlCol="0" anchor="ctr"/>
          <a:lstStyle/>
          <a:p>
            <a:pPr marL="0" indent="0" algn="ctr">
              <a:buNone/>
            </a:pPr>
            <a:r>
              <a:rPr lang="en-US" sz="1300" b="1" kern="0" spc="200" dirty="0">
                <a:solidFill>
                  <a:srgbClr val="2A2218"/>
                </a:solidFill>
                <a:latin typeface="Calibri" pitchFamily="34" charset="0"/>
                <a:ea typeface="Calibri" pitchFamily="34" charset="-122"/>
                <a:cs typeface="Calibri" pitchFamily="34" charset="-120"/>
              </a:rPr>
              <a:t>SUPERVISOR</a:t>
            </a:r>
            <a:endParaRPr lang="en-US" sz="1300" dirty="0"/>
          </a:p>
        </p:txBody>
      </p:sp>
      <p:sp>
        <p:nvSpPr>
          <p:cNvPr id="13" name="Text 11"/>
          <p:cNvSpPr/>
          <p:nvPr/>
        </p:nvSpPr>
        <p:spPr>
          <a:xfrm>
            <a:off x="2877251" y="3182112"/>
            <a:ext cx="1871411" cy="548640"/>
          </a:xfrm>
          <a:prstGeom prst="rect">
            <a:avLst/>
          </a:prstGeom>
          <a:noFill/>
          <a:ln/>
        </p:spPr>
        <p:txBody>
          <a:bodyPr wrap="square" lIns="0" tIns="0" rIns="0" bIns="0" rtlCol="0" anchor="ctr"/>
          <a:lstStyle/>
          <a:p>
            <a:pPr marL="0" indent="0" algn="ctr">
              <a:buNone/>
            </a:pPr>
            <a:r>
              <a:rPr lang="en-US" sz="1000" i="1" dirty="0">
                <a:solidFill>
                  <a:srgbClr val="746851"/>
                </a:solidFill>
                <a:latin typeface="Calibri" pitchFamily="34" charset="0"/>
                <a:ea typeface="Calibri" pitchFamily="34" charset="-122"/>
                <a:cs typeface="Calibri" pitchFamily="34" charset="-120"/>
              </a:rPr>
              <a:t>Python · routes the turn</a:t>
            </a:r>
            <a:endParaRPr lang="en-US" sz="1000" dirty="0"/>
          </a:p>
        </p:txBody>
      </p:sp>
      <p:sp>
        <p:nvSpPr>
          <p:cNvPr id="14" name="Shape 12"/>
          <p:cNvSpPr/>
          <p:nvPr/>
        </p:nvSpPr>
        <p:spPr>
          <a:xfrm>
            <a:off x="4840102" y="3131820"/>
            <a:ext cx="228600" cy="0"/>
          </a:xfrm>
          <a:prstGeom prst="line">
            <a:avLst/>
          </a:prstGeom>
          <a:noFill/>
          <a:ln w="19050">
            <a:solidFill>
              <a:srgbClr val="8A7335"/>
            </a:solidFill>
            <a:prstDash val="solid"/>
            <a:tailEnd type="triangle"/>
          </a:ln>
        </p:spPr>
        <p:txBody>
          <a:bodyPr/>
          <a:lstStyle/>
          <a:p>
            <a:endParaRPr lang="en-US"/>
          </a:p>
        </p:txBody>
      </p:sp>
      <p:sp>
        <p:nvSpPr>
          <p:cNvPr id="15" name="Shape 13"/>
          <p:cNvSpPr/>
          <p:nvPr/>
        </p:nvSpPr>
        <p:spPr>
          <a:xfrm>
            <a:off x="5114422" y="2468880"/>
            <a:ext cx="1962851" cy="1325880"/>
          </a:xfrm>
          <a:prstGeom prst="rect">
            <a:avLst/>
          </a:prstGeom>
          <a:solidFill>
            <a:srgbClr val="FFFFFF"/>
          </a:solidFill>
          <a:ln w="19050">
            <a:solidFill>
              <a:srgbClr val="C8A24B"/>
            </a:solidFill>
            <a:prstDash val="solid"/>
          </a:ln>
          <a:effectLst>
            <a:outerShdw blurRad="76200" dist="12700" dir="5400000" algn="bl" rotWithShape="0">
              <a:srgbClr val="000000">
                <a:alpha val="8000"/>
              </a:srgbClr>
            </a:outerShdw>
          </a:effectLst>
        </p:spPr>
        <p:txBody>
          <a:bodyPr/>
          <a:lstStyle/>
          <a:p>
            <a:endParaRPr lang="en-US"/>
          </a:p>
        </p:txBody>
      </p:sp>
      <p:sp>
        <p:nvSpPr>
          <p:cNvPr id="16" name="Shape 14"/>
          <p:cNvSpPr/>
          <p:nvPr/>
        </p:nvSpPr>
        <p:spPr>
          <a:xfrm>
            <a:off x="5114422" y="2468880"/>
            <a:ext cx="1962851" cy="91440"/>
          </a:xfrm>
          <a:prstGeom prst="rect">
            <a:avLst/>
          </a:prstGeom>
          <a:solidFill>
            <a:srgbClr val="C8A24B"/>
          </a:solidFill>
          <a:ln w="12700">
            <a:solidFill>
              <a:srgbClr val="C8A24B"/>
            </a:solidFill>
            <a:prstDash val="solid"/>
          </a:ln>
        </p:spPr>
        <p:txBody>
          <a:bodyPr/>
          <a:lstStyle/>
          <a:p>
            <a:endParaRPr lang="en-US"/>
          </a:p>
        </p:txBody>
      </p:sp>
      <p:sp>
        <p:nvSpPr>
          <p:cNvPr id="17" name="Text 15"/>
          <p:cNvSpPr/>
          <p:nvPr/>
        </p:nvSpPr>
        <p:spPr>
          <a:xfrm>
            <a:off x="5160142" y="2743200"/>
            <a:ext cx="1871411" cy="411480"/>
          </a:xfrm>
          <a:prstGeom prst="rect">
            <a:avLst/>
          </a:prstGeom>
          <a:noFill/>
          <a:ln/>
        </p:spPr>
        <p:txBody>
          <a:bodyPr wrap="square" lIns="0" tIns="0" rIns="0" bIns="0" rtlCol="0" anchor="ctr"/>
          <a:lstStyle/>
          <a:p>
            <a:pPr marL="0" indent="0" algn="ctr">
              <a:buNone/>
            </a:pPr>
            <a:r>
              <a:rPr lang="en-US" sz="1300" b="1" kern="0" spc="200" dirty="0">
                <a:solidFill>
                  <a:srgbClr val="2A2218"/>
                </a:solidFill>
                <a:latin typeface="Calibri" pitchFamily="34" charset="0"/>
                <a:ea typeface="Calibri" pitchFamily="34" charset="-122"/>
                <a:cs typeface="Calibri" pitchFamily="34" charset="-120"/>
              </a:rPr>
              <a:t>SPECIALISTS</a:t>
            </a:r>
            <a:endParaRPr lang="en-US" sz="1300" dirty="0"/>
          </a:p>
        </p:txBody>
      </p:sp>
      <p:sp>
        <p:nvSpPr>
          <p:cNvPr id="18" name="Text 16"/>
          <p:cNvSpPr/>
          <p:nvPr/>
        </p:nvSpPr>
        <p:spPr>
          <a:xfrm>
            <a:off x="5160142" y="3182112"/>
            <a:ext cx="1871411" cy="548640"/>
          </a:xfrm>
          <a:prstGeom prst="rect">
            <a:avLst/>
          </a:prstGeom>
          <a:noFill/>
          <a:ln/>
        </p:spPr>
        <p:txBody>
          <a:bodyPr wrap="square" lIns="0" tIns="0" rIns="0" bIns="0" rtlCol="0" anchor="ctr"/>
          <a:lstStyle/>
          <a:p>
            <a:pPr marL="0" indent="0" algn="ctr">
              <a:buNone/>
            </a:pPr>
            <a:r>
              <a:rPr lang="en-US" sz="1000" i="1" dirty="0">
                <a:solidFill>
                  <a:srgbClr val="746851"/>
                </a:solidFill>
                <a:latin typeface="Calibri" pitchFamily="34" charset="0"/>
                <a:ea typeface="Calibri" pitchFamily="34" charset="-122"/>
                <a:cs typeface="Calibri" pitchFamily="34" charset="-120"/>
              </a:rPr>
              <a:t>Lore · NPC · Quest · Rules</a:t>
            </a:r>
            <a:endParaRPr lang="en-US" sz="1000" dirty="0"/>
          </a:p>
        </p:txBody>
      </p:sp>
      <p:sp>
        <p:nvSpPr>
          <p:cNvPr id="19" name="Shape 17"/>
          <p:cNvSpPr/>
          <p:nvPr/>
        </p:nvSpPr>
        <p:spPr>
          <a:xfrm>
            <a:off x="7122993" y="3131820"/>
            <a:ext cx="228600" cy="0"/>
          </a:xfrm>
          <a:prstGeom prst="line">
            <a:avLst/>
          </a:prstGeom>
          <a:noFill/>
          <a:ln w="19050">
            <a:solidFill>
              <a:srgbClr val="8A7335"/>
            </a:solidFill>
            <a:prstDash val="solid"/>
            <a:tailEnd type="triangle"/>
          </a:ln>
        </p:spPr>
        <p:txBody>
          <a:bodyPr/>
          <a:lstStyle/>
          <a:p>
            <a:endParaRPr lang="en-US"/>
          </a:p>
        </p:txBody>
      </p:sp>
      <p:sp>
        <p:nvSpPr>
          <p:cNvPr id="20" name="Shape 18"/>
          <p:cNvSpPr/>
          <p:nvPr/>
        </p:nvSpPr>
        <p:spPr>
          <a:xfrm>
            <a:off x="7397313" y="2468880"/>
            <a:ext cx="1962851" cy="1325880"/>
          </a:xfrm>
          <a:prstGeom prst="rect">
            <a:avLst/>
          </a:prstGeom>
          <a:solidFill>
            <a:srgbClr val="FFFFFF"/>
          </a:solidFill>
          <a:ln w="19050">
            <a:solidFill>
              <a:srgbClr val="9B2A3A"/>
            </a:solidFill>
            <a:prstDash val="solid"/>
          </a:ln>
          <a:effectLst>
            <a:outerShdw blurRad="76200" dist="12700" dir="5400000" algn="bl" rotWithShape="0">
              <a:srgbClr val="000000">
                <a:alpha val="8000"/>
              </a:srgbClr>
            </a:outerShdw>
          </a:effectLst>
        </p:spPr>
        <p:txBody>
          <a:bodyPr/>
          <a:lstStyle/>
          <a:p>
            <a:endParaRPr lang="en-US"/>
          </a:p>
        </p:txBody>
      </p:sp>
      <p:sp>
        <p:nvSpPr>
          <p:cNvPr id="21" name="Shape 19"/>
          <p:cNvSpPr/>
          <p:nvPr/>
        </p:nvSpPr>
        <p:spPr>
          <a:xfrm>
            <a:off x="7397313" y="2468880"/>
            <a:ext cx="1962851" cy="91440"/>
          </a:xfrm>
          <a:prstGeom prst="rect">
            <a:avLst/>
          </a:prstGeom>
          <a:solidFill>
            <a:srgbClr val="9B2A3A"/>
          </a:solidFill>
          <a:ln w="12700">
            <a:solidFill>
              <a:srgbClr val="9B2A3A"/>
            </a:solidFill>
            <a:prstDash val="solid"/>
          </a:ln>
        </p:spPr>
        <p:txBody>
          <a:bodyPr/>
          <a:lstStyle/>
          <a:p>
            <a:endParaRPr lang="en-US"/>
          </a:p>
        </p:txBody>
      </p:sp>
      <p:sp>
        <p:nvSpPr>
          <p:cNvPr id="22" name="Text 20"/>
          <p:cNvSpPr/>
          <p:nvPr/>
        </p:nvSpPr>
        <p:spPr>
          <a:xfrm>
            <a:off x="7443033" y="2743200"/>
            <a:ext cx="1871411" cy="411480"/>
          </a:xfrm>
          <a:prstGeom prst="rect">
            <a:avLst/>
          </a:prstGeom>
          <a:noFill/>
          <a:ln/>
        </p:spPr>
        <p:txBody>
          <a:bodyPr wrap="square" lIns="0" tIns="0" rIns="0" bIns="0" rtlCol="0" anchor="ctr"/>
          <a:lstStyle/>
          <a:p>
            <a:pPr marL="0" indent="0" algn="ctr">
              <a:buNone/>
            </a:pPr>
            <a:r>
              <a:rPr lang="en-US" sz="1300" b="1" kern="0" spc="200" dirty="0">
                <a:solidFill>
                  <a:srgbClr val="2A2218"/>
                </a:solidFill>
                <a:latin typeface="Calibri" pitchFamily="34" charset="0"/>
                <a:ea typeface="Calibri" pitchFamily="34" charset="-122"/>
                <a:cs typeface="Calibri" pitchFamily="34" charset="-120"/>
              </a:rPr>
              <a:t>CRITIC</a:t>
            </a:r>
            <a:endParaRPr lang="en-US" sz="1300" dirty="0"/>
          </a:p>
        </p:txBody>
      </p:sp>
      <p:sp>
        <p:nvSpPr>
          <p:cNvPr id="23" name="Text 21"/>
          <p:cNvSpPr/>
          <p:nvPr/>
        </p:nvSpPr>
        <p:spPr>
          <a:xfrm>
            <a:off x="7443033" y="3182112"/>
            <a:ext cx="1871411" cy="548640"/>
          </a:xfrm>
          <a:prstGeom prst="rect">
            <a:avLst/>
          </a:prstGeom>
          <a:noFill/>
          <a:ln/>
        </p:spPr>
        <p:txBody>
          <a:bodyPr wrap="square" lIns="0" tIns="0" rIns="0" bIns="0" rtlCol="0" anchor="ctr"/>
          <a:lstStyle/>
          <a:p>
            <a:pPr marL="0" indent="0" algn="ctr">
              <a:buNone/>
            </a:pPr>
            <a:r>
              <a:rPr lang="en-US" sz="1000" i="1" dirty="0">
                <a:solidFill>
                  <a:srgbClr val="746851"/>
                </a:solidFill>
                <a:latin typeface="Calibri" pitchFamily="34" charset="0"/>
                <a:ea typeface="Calibri" pitchFamily="34" charset="-122"/>
                <a:cs typeface="Calibri" pitchFamily="34" charset="-120"/>
              </a:rPr>
              <a:t>validates proposals</a:t>
            </a:r>
            <a:endParaRPr lang="en-US" sz="1000" dirty="0"/>
          </a:p>
        </p:txBody>
      </p:sp>
      <p:sp>
        <p:nvSpPr>
          <p:cNvPr id="24" name="Shape 22"/>
          <p:cNvSpPr/>
          <p:nvPr/>
        </p:nvSpPr>
        <p:spPr>
          <a:xfrm>
            <a:off x="9405884" y="3131820"/>
            <a:ext cx="228600" cy="0"/>
          </a:xfrm>
          <a:prstGeom prst="line">
            <a:avLst/>
          </a:prstGeom>
          <a:noFill/>
          <a:ln w="19050">
            <a:solidFill>
              <a:srgbClr val="8A7335"/>
            </a:solidFill>
            <a:prstDash val="solid"/>
            <a:tailEnd type="triangle"/>
          </a:ln>
        </p:spPr>
        <p:txBody>
          <a:bodyPr/>
          <a:lstStyle/>
          <a:p>
            <a:endParaRPr lang="en-US"/>
          </a:p>
        </p:txBody>
      </p:sp>
      <p:sp>
        <p:nvSpPr>
          <p:cNvPr id="25" name="Shape 23"/>
          <p:cNvSpPr/>
          <p:nvPr/>
        </p:nvSpPr>
        <p:spPr>
          <a:xfrm>
            <a:off x="9680204" y="2468880"/>
            <a:ext cx="1962851" cy="1325880"/>
          </a:xfrm>
          <a:prstGeom prst="rect">
            <a:avLst/>
          </a:prstGeom>
          <a:solidFill>
            <a:srgbClr val="FFFFFF"/>
          </a:solidFill>
          <a:ln w="19050">
            <a:solidFill>
              <a:srgbClr val="2A2218"/>
            </a:solidFill>
            <a:prstDash val="solid"/>
          </a:ln>
          <a:effectLst>
            <a:outerShdw blurRad="76200" dist="12700" dir="5400000" algn="bl" rotWithShape="0">
              <a:srgbClr val="000000">
                <a:alpha val="8000"/>
              </a:srgbClr>
            </a:outerShdw>
          </a:effectLst>
        </p:spPr>
        <p:txBody>
          <a:bodyPr/>
          <a:lstStyle/>
          <a:p>
            <a:endParaRPr lang="en-US"/>
          </a:p>
        </p:txBody>
      </p:sp>
      <p:sp>
        <p:nvSpPr>
          <p:cNvPr id="26" name="Shape 24"/>
          <p:cNvSpPr/>
          <p:nvPr/>
        </p:nvSpPr>
        <p:spPr>
          <a:xfrm>
            <a:off x="9680204" y="2468880"/>
            <a:ext cx="1962851" cy="91440"/>
          </a:xfrm>
          <a:prstGeom prst="rect">
            <a:avLst/>
          </a:prstGeom>
          <a:solidFill>
            <a:srgbClr val="2A2218"/>
          </a:solidFill>
          <a:ln w="12700">
            <a:solidFill>
              <a:srgbClr val="2A2218"/>
            </a:solidFill>
            <a:prstDash val="solid"/>
          </a:ln>
        </p:spPr>
        <p:txBody>
          <a:bodyPr/>
          <a:lstStyle/>
          <a:p>
            <a:endParaRPr lang="en-US"/>
          </a:p>
        </p:txBody>
      </p:sp>
      <p:sp>
        <p:nvSpPr>
          <p:cNvPr id="27" name="Text 25"/>
          <p:cNvSpPr/>
          <p:nvPr/>
        </p:nvSpPr>
        <p:spPr>
          <a:xfrm>
            <a:off x="9725924" y="2743200"/>
            <a:ext cx="1871411" cy="411480"/>
          </a:xfrm>
          <a:prstGeom prst="rect">
            <a:avLst/>
          </a:prstGeom>
          <a:noFill/>
          <a:ln/>
        </p:spPr>
        <p:txBody>
          <a:bodyPr wrap="square" lIns="0" tIns="0" rIns="0" bIns="0" rtlCol="0" anchor="ctr"/>
          <a:lstStyle/>
          <a:p>
            <a:pPr marL="0" indent="0" algn="ctr">
              <a:buNone/>
            </a:pPr>
            <a:r>
              <a:rPr lang="en-US" sz="1300" b="1" kern="0" spc="200" dirty="0">
                <a:solidFill>
                  <a:srgbClr val="2A2218"/>
                </a:solidFill>
                <a:latin typeface="Calibri" pitchFamily="34" charset="0"/>
                <a:ea typeface="Calibri" pitchFamily="34" charset="-122"/>
                <a:cs typeface="Calibri" pitchFamily="34" charset="-120"/>
              </a:rPr>
              <a:t>STATE + NARRATOR</a:t>
            </a:r>
            <a:endParaRPr lang="en-US" sz="1300" dirty="0"/>
          </a:p>
        </p:txBody>
      </p:sp>
      <p:sp>
        <p:nvSpPr>
          <p:cNvPr id="28" name="Text 26"/>
          <p:cNvSpPr/>
          <p:nvPr/>
        </p:nvSpPr>
        <p:spPr>
          <a:xfrm>
            <a:off x="9725924" y="3182112"/>
            <a:ext cx="1871411" cy="548640"/>
          </a:xfrm>
          <a:prstGeom prst="rect">
            <a:avLst/>
          </a:prstGeom>
          <a:noFill/>
          <a:ln/>
        </p:spPr>
        <p:txBody>
          <a:bodyPr wrap="square" lIns="0" tIns="0" rIns="0" bIns="0" rtlCol="0" anchor="ctr"/>
          <a:lstStyle/>
          <a:p>
            <a:pPr marL="0" indent="0" algn="ctr">
              <a:buNone/>
            </a:pPr>
            <a:r>
              <a:rPr lang="en-US" sz="1000" i="1" dirty="0">
                <a:solidFill>
                  <a:srgbClr val="746851"/>
                </a:solidFill>
                <a:latin typeface="Calibri" pitchFamily="34" charset="0"/>
                <a:ea typeface="Calibri" pitchFamily="34" charset="-122"/>
                <a:cs typeface="Calibri" pitchFamily="34" charset="-120"/>
              </a:rPr>
              <a:t>commit · render text</a:t>
            </a:r>
            <a:endParaRPr lang="en-US" sz="1000" dirty="0"/>
          </a:p>
        </p:txBody>
      </p:sp>
      <p:sp>
        <p:nvSpPr>
          <p:cNvPr id="29" name="Shape 27"/>
          <p:cNvSpPr/>
          <p:nvPr/>
        </p:nvSpPr>
        <p:spPr>
          <a:xfrm>
            <a:off x="548640" y="4572000"/>
            <a:ext cx="11094415" cy="1097280"/>
          </a:xfrm>
          <a:prstGeom prst="rect">
            <a:avLst/>
          </a:prstGeom>
          <a:solidFill>
            <a:srgbClr val="241B14"/>
          </a:solidFill>
          <a:ln w="12700">
            <a:solidFill>
              <a:srgbClr val="C8A24B"/>
            </a:solidFill>
            <a:prstDash val="solid"/>
          </a:ln>
        </p:spPr>
        <p:txBody>
          <a:bodyPr/>
          <a:lstStyle/>
          <a:p>
            <a:endParaRPr lang="en-US"/>
          </a:p>
        </p:txBody>
      </p:sp>
      <p:sp>
        <p:nvSpPr>
          <p:cNvPr id="30" name="Text 28"/>
          <p:cNvSpPr/>
          <p:nvPr/>
        </p:nvSpPr>
        <p:spPr>
          <a:xfrm>
            <a:off x="548640" y="4709160"/>
            <a:ext cx="11094415" cy="320040"/>
          </a:xfrm>
          <a:prstGeom prst="rect">
            <a:avLst/>
          </a:prstGeom>
          <a:noFill/>
          <a:ln/>
        </p:spPr>
        <p:txBody>
          <a:bodyPr wrap="square" lIns="0" tIns="0" rIns="0" bIns="0" rtlCol="0" anchor="ctr"/>
          <a:lstStyle/>
          <a:p>
            <a:pPr marL="0" indent="0" algn="ctr">
              <a:buNone/>
            </a:pPr>
            <a:r>
              <a:rPr lang="en-US" sz="1100" b="1" kern="0" spc="600" dirty="0">
                <a:solidFill>
                  <a:srgbClr val="C8A24B"/>
                </a:solidFill>
                <a:latin typeface="Calibri" pitchFamily="34" charset="0"/>
                <a:ea typeface="Calibri" pitchFamily="34" charset="-122"/>
                <a:cs typeface="Calibri" pitchFamily="34" charset="-120"/>
              </a:rPr>
              <a:t>CANONICAL GAME STATE</a:t>
            </a:r>
            <a:endParaRPr lang="en-US" sz="1100" dirty="0"/>
          </a:p>
        </p:txBody>
      </p:sp>
      <p:sp>
        <p:nvSpPr>
          <p:cNvPr id="31" name="Text 29"/>
          <p:cNvSpPr/>
          <p:nvPr/>
        </p:nvSpPr>
        <p:spPr>
          <a:xfrm>
            <a:off x="685800" y="5074920"/>
            <a:ext cx="10820095" cy="502920"/>
          </a:xfrm>
          <a:prstGeom prst="rect">
            <a:avLst/>
          </a:prstGeom>
          <a:noFill/>
          <a:ln/>
        </p:spPr>
        <p:txBody>
          <a:bodyPr wrap="square" lIns="0" tIns="0" rIns="0" bIns="0" rtlCol="0" anchor="ctr"/>
          <a:lstStyle/>
          <a:p>
            <a:pPr marL="0" indent="0" algn="ctr">
              <a:buNone/>
            </a:pPr>
            <a:r>
              <a:rPr lang="en-US" sz="1200" i="1" dirty="0">
                <a:solidFill>
                  <a:srgbClr val="F1E6CF"/>
                </a:solidFill>
                <a:latin typeface="Calibri" pitchFamily="34" charset="0"/>
                <a:ea typeface="Calibri" pitchFamily="34" charset="-122"/>
                <a:cs typeface="Calibri" pitchFamily="34" charset="-120"/>
              </a:rPr>
              <a:t>location · current scene · active quests · NPC dispositions · inventory · recent events    —   only the State Updater may modify it</a:t>
            </a:r>
            <a:endParaRPr lang="en-US" sz="1200" dirty="0"/>
          </a:p>
        </p:txBody>
      </p:sp>
      <p:sp>
        <p:nvSpPr>
          <p:cNvPr id="32" name="Text 30"/>
          <p:cNvSpPr/>
          <p:nvPr/>
        </p:nvSpPr>
        <p:spPr>
          <a:xfrm>
            <a:off x="548640" y="5943600"/>
            <a:ext cx="11094415" cy="457200"/>
          </a:xfrm>
          <a:prstGeom prst="rect">
            <a:avLst/>
          </a:prstGeom>
          <a:noFill/>
          <a:ln/>
        </p:spPr>
        <p:txBody>
          <a:bodyPr wrap="square" lIns="0" tIns="0" rIns="0" bIns="0" rtlCol="0" anchor="ctr"/>
          <a:lstStyle/>
          <a:p>
            <a:pPr marL="0" indent="0" algn="ctr">
              <a:buNone/>
            </a:pPr>
            <a:r>
              <a:rPr lang="en-US" sz="1300" i="1" dirty="0">
                <a:solidFill>
                  <a:srgbClr val="2A2218"/>
                </a:solidFill>
                <a:latin typeface="Calibri" pitchFamily="34" charset="0"/>
                <a:ea typeface="Calibri" pitchFamily="34" charset="-122"/>
                <a:cs typeface="Calibri" pitchFamily="34" charset="-120"/>
              </a:rPr>
              <a:t>Specialists propose. The Critic validates. The State Updater commits. Nothing becomes "true" without going through that pipeline.</a:t>
            </a:r>
            <a:endParaRPr lang="en-US" sz="1300" dirty="0"/>
          </a:p>
        </p:txBody>
      </p:sp>
      <p:sp>
        <p:nvSpPr>
          <p:cNvPr id="33" name="Text 31"/>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34" name="Text 32"/>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THE SPECIALISTS</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Each agent has one bounded job.</a:t>
            </a:r>
            <a:endParaRPr lang="en-US" sz="3200" dirty="0"/>
          </a:p>
        </p:txBody>
      </p:sp>
      <p:sp>
        <p:nvSpPr>
          <p:cNvPr id="5" name="Shape 3"/>
          <p:cNvSpPr/>
          <p:nvPr/>
        </p:nvSpPr>
        <p:spPr>
          <a:xfrm>
            <a:off x="548640" y="2240280"/>
            <a:ext cx="3576218" cy="155448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6" name="Shape 4"/>
          <p:cNvSpPr/>
          <p:nvPr/>
        </p:nvSpPr>
        <p:spPr>
          <a:xfrm>
            <a:off x="548640" y="2240280"/>
            <a:ext cx="91440" cy="1554480"/>
          </a:xfrm>
          <a:prstGeom prst="rect">
            <a:avLst/>
          </a:prstGeom>
          <a:solidFill>
            <a:srgbClr val="4C8A6E"/>
          </a:solidFill>
          <a:ln w="12700">
            <a:solidFill>
              <a:srgbClr val="4C8A6E"/>
            </a:solidFill>
            <a:prstDash val="solid"/>
          </a:ln>
        </p:spPr>
        <p:txBody>
          <a:bodyPr/>
          <a:lstStyle/>
          <a:p>
            <a:endParaRPr lang="en-US"/>
          </a:p>
        </p:txBody>
      </p:sp>
      <p:sp>
        <p:nvSpPr>
          <p:cNvPr id="7" name="Text 5"/>
          <p:cNvSpPr/>
          <p:nvPr/>
        </p:nvSpPr>
        <p:spPr>
          <a:xfrm>
            <a:off x="822960" y="2423160"/>
            <a:ext cx="3027578" cy="365760"/>
          </a:xfrm>
          <a:prstGeom prst="rect">
            <a:avLst/>
          </a:prstGeom>
          <a:noFill/>
          <a:ln/>
        </p:spPr>
        <p:txBody>
          <a:bodyPr wrap="square" lIns="0" tIns="0" rIns="0" bIns="0" rtlCol="0" anchor="ctr"/>
          <a:lstStyle/>
          <a:p>
            <a:pPr marL="0" indent="0">
              <a:buNone/>
            </a:pPr>
            <a:r>
              <a:rPr lang="en-US" sz="2200" b="1" kern="0" spc="200" dirty="0">
                <a:solidFill>
                  <a:srgbClr val="2A2218"/>
                </a:solidFill>
                <a:latin typeface="Georgia" pitchFamily="34" charset="0"/>
                <a:ea typeface="Georgia" pitchFamily="34" charset="-122"/>
                <a:cs typeface="Georgia" pitchFamily="34" charset="-120"/>
              </a:rPr>
              <a:t>LORE</a:t>
            </a:r>
            <a:endParaRPr lang="en-US" sz="2200" dirty="0"/>
          </a:p>
        </p:txBody>
      </p:sp>
      <p:sp>
        <p:nvSpPr>
          <p:cNvPr id="8" name="Text 6"/>
          <p:cNvSpPr/>
          <p:nvPr/>
        </p:nvSpPr>
        <p:spPr>
          <a:xfrm>
            <a:off x="822960" y="2788920"/>
            <a:ext cx="3027578" cy="274320"/>
          </a:xfrm>
          <a:prstGeom prst="rect">
            <a:avLst/>
          </a:prstGeom>
          <a:noFill/>
          <a:ln/>
        </p:spPr>
        <p:txBody>
          <a:bodyPr wrap="square" lIns="0" tIns="0" rIns="0" bIns="0" rtlCol="0" anchor="ctr"/>
          <a:lstStyle/>
          <a:p>
            <a:pPr marL="0" indent="0">
              <a:buNone/>
            </a:pPr>
            <a:r>
              <a:rPr lang="en-US" sz="900" b="1" kern="0" spc="500" dirty="0">
                <a:solidFill>
                  <a:srgbClr val="4C8A6E"/>
                </a:solidFill>
                <a:latin typeface="Calibri" pitchFamily="34" charset="0"/>
                <a:ea typeface="Calibri" pitchFamily="34" charset="-122"/>
                <a:cs typeface="Calibri" pitchFamily="34" charset="-120"/>
              </a:rPr>
              <a:t>BUILT</a:t>
            </a:r>
            <a:endParaRPr lang="en-US" sz="900" dirty="0"/>
          </a:p>
        </p:txBody>
      </p:sp>
      <p:sp>
        <p:nvSpPr>
          <p:cNvPr id="9" name="Text 7"/>
          <p:cNvSpPr/>
          <p:nvPr/>
        </p:nvSpPr>
        <p:spPr>
          <a:xfrm>
            <a:off x="822960" y="3108960"/>
            <a:ext cx="3027578" cy="5943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Grounded world knowledge and environmental context.</a:t>
            </a:r>
            <a:endParaRPr lang="en-US" sz="1300" dirty="0"/>
          </a:p>
        </p:txBody>
      </p:sp>
      <p:sp>
        <p:nvSpPr>
          <p:cNvPr id="10" name="Shape 8"/>
          <p:cNvSpPr/>
          <p:nvPr/>
        </p:nvSpPr>
        <p:spPr>
          <a:xfrm>
            <a:off x="4307738" y="2240280"/>
            <a:ext cx="3576218" cy="155448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11" name="Shape 9"/>
          <p:cNvSpPr/>
          <p:nvPr/>
        </p:nvSpPr>
        <p:spPr>
          <a:xfrm>
            <a:off x="4307738" y="2240280"/>
            <a:ext cx="91440" cy="1554480"/>
          </a:xfrm>
          <a:prstGeom prst="rect">
            <a:avLst/>
          </a:prstGeom>
          <a:solidFill>
            <a:srgbClr val="4C8A6E"/>
          </a:solidFill>
          <a:ln w="12700">
            <a:solidFill>
              <a:srgbClr val="4C8A6E"/>
            </a:solidFill>
            <a:prstDash val="solid"/>
          </a:ln>
        </p:spPr>
        <p:txBody>
          <a:bodyPr/>
          <a:lstStyle/>
          <a:p>
            <a:endParaRPr lang="en-US"/>
          </a:p>
        </p:txBody>
      </p:sp>
      <p:sp>
        <p:nvSpPr>
          <p:cNvPr id="12" name="Text 10"/>
          <p:cNvSpPr/>
          <p:nvPr/>
        </p:nvSpPr>
        <p:spPr>
          <a:xfrm>
            <a:off x="4582058" y="2423160"/>
            <a:ext cx="3027578" cy="365760"/>
          </a:xfrm>
          <a:prstGeom prst="rect">
            <a:avLst/>
          </a:prstGeom>
          <a:noFill/>
          <a:ln/>
        </p:spPr>
        <p:txBody>
          <a:bodyPr wrap="square" lIns="0" tIns="0" rIns="0" bIns="0" rtlCol="0" anchor="ctr"/>
          <a:lstStyle/>
          <a:p>
            <a:pPr marL="0" indent="0">
              <a:buNone/>
            </a:pPr>
            <a:r>
              <a:rPr lang="en-US" sz="2200" b="1" kern="0" spc="200" dirty="0">
                <a:solidFill>
                  <a:srgbClr val="2A2218"/>
                </a:solidFill>
                <a:latin typeface="Georgia" pitchFamily="34" charset="0"/>
                <a:ea typeface="Georgia" pitchFamily="34" charset="-122"/>
                <a:cs typeface="Georgia" pitchFamily="34" charset="-120"/>
              </a:rPr>
              <a:t>NPC</a:t>
            </a:r>
            <a:endParaRPr lang="en-US" sz="2200" dirty="0"/>
          </a:p>
        </p:txBody>
      </p:sp>
      <p:sp>
        <p:nvSpPr>
          <p:cNvPr id="13" name="Text 11"/>
          <p:cNvSpPr/>
          <p:nvPr/>
        </p:nvSpPr>
        <p:spPr>
          <a:xfrm>
            <a:off x="4582058" y="2788920"/>
            <a:ext cx="3027578" cy="274320"/>
          </a:xfrm>
          <a:prstGeom prst="rect">
            <a:avLst/>
          </a:prstGeom>
          <a:noFill/>
          <a:ln/>
        </p:spPr>
        <p:txBody>
          <a:bodyPr wrap="square" lIns="0" tIns="0" rIns="0" bIns="0" rtlCol="0" anchor="ctr"/>
          <a:lstStyle/>
          <a:p>
            <a:pPr marL="0" indent="0">
              <a:buNone/>
            </a:pPr>
            <a:r>
              <a:rPr lang="en-US" sz="900" b="1" kern="0" spc="500" dirty="0">
                <a:solidFill>
                  <a:srgbClr val="4C8A6E"/>
                </a:solidFill>
                <a:latin typeface="Calibri" pitchFamily="34" charset="0"/>
                <a:ea typeface="Calibri" pitchFamily="34" charset="-122"/>
                <a:cs typeface="Calibri" pitchFamily="34" charset="-120"/>
              </a:rPr>
              <a:t>BUILT</a:t>
            </a:r>
            <a:endParaRPr lang="en-US" sz="900" dirty="0"/>
          </a:p>
        </p:txBody>
      </p:sp>
      <p:sp>
        <p:nvSpPr>
          <p:cNvPr id="14" name="Text 12"/>
          <p:cNvSpPr/>
          <p:nvPr/>
        </p:nvSpPr>
        <p:spPr>
          <a:xfrm>
            <a:off x="4582058" y="3108960"/>
            <a:ext cx="3027578" cy="5943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Character voice, motives, social reactions.</a:t>
            </a:r>
            <a:endParaRPr lang="en-US" sz="1300" dirty="0"/>
          </a:p>
        </p:txBody>
      </p:sp>
      <p:sp>
        <p:nvSpPr>
          <p:cNvPr id="15" name="Shape 13"/>
          <p:cNvSpPr/>
          <p:nvPr/>
        </p:nvSpPr>
        <p:spPr>
          <a:xfrm>
            <a:off x="8066837" y="2240280"/>
            <a:ext cx="3576218" cy="155448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16" name="Shape 14"/>
          <p:cNvSpPr/>
          <p:nvPr/>
        </p:nvSpPr>
        <p:spPr>
          <a:xfrm>
            <a:off x="8066837" y="2240280"/>
            <a:ext cx="91440" cy="1554480"/>
          </a:xfrm>
          <a:prstGeom prst="rect">
            <a:avLst/>
          </a:prstGeom>
          <a:solidFill>
            <a:srgbClr val="4C8A6E"/>
          </a:solidFill>
          <a:ln w="12700">
            <a:solidFill>
              <a:srgbClr val="4C8A6E"/>
            </a:solidFill>
            <a:prstDash val="solid"/>
          </a:ln>
        </p:spPr>
        <p:txBody>
          <a:bodyPr/>
          <a:lstStyle/>
          <a:p>
            <a:endParaRPr lang="en-US"/>
          </a:p>
        </p:txBody>
      </p:sp>
      <p:sp>
        <p:nvSpPr>
          <p:cNvPr id="17" name="Text 15"/>
          <p:cNvSpPr/>
          <p:nvPr/>
        </p:nvSpPr>
        <p:spPr>
          <a:xfrm>
            <a:off x="8341157" y="2423160"/>
            <a:ext cx="3027578" cy="365760"/>
          </a:xfrm>
          <a:prstGeom prst="rect">
            <a:avLst/>
          </a:prstGeom>
          <a:noFill/>
          <a:ln/>
        </p:spPr>
        <p:txBody>
          <a:bodyPr wrap="square" lIns="0" tIns="0" rIns="0" bIns="0" rtlCol="0" anchor="ctr"/>
          <a:lstStyle/>
          <a:p>
            <a:pPr marL="0" indent="0">
              <a:buNone/>
            </a:pPr>
            <a:r>
              <a:rPr lang="en-US" sz="2200" b="1" kern="0" spc="200" dirty="0">
                <a:solidFill>
                  <a:srgbClr val="2A2218"/>
                </a:solidFill>
                <a:latin typeface="Georgia" pitchFamily="34" charset="0"/>
                <a:ea typeface="Georgia" pitchFamily="34" charset="-122"/>
                <a:cs typeface="Georgia" pitchFamily="34" charset="-120"/>
              </a:rPr>
              <a:t>QUEST</a:t>
            </a:r>
            <a:endParaRPr lang="en-US" sz="2200" dirty="0"/>
          </a:p>
        </p:txBody>
      </p:sp>
      <p:sp>
        <p:nvSpPr>
          <p:cNvPr id="18" name="Text 16"/>
          <p:cNvSpPr/>
          <p:nvPr/>
        </p:nvSpPr>
        <p:spPr>
          <a:xfrm>
            <a:off x="8341157" y="2788920"/>
            <a:ext cx="3027578" cy="274320"/>
          </a:xfrm>
          <a:prstGeom prst="rect">
            <a:avLst/>
          </a:prstGeom>
          <a:noFill/>
          <a:ln/>
        </p:spPr>
        <p:txBody>
          <a:bodyPr wrap="square" lIns="0" tIns="0" rIns="0" bIns="0" rtlCol="0" anchor="ctr"/>
          <a:lstStyle/>
          <a:p>
            <a:pPr marL="0" indent="0">
              <a:buNone/>
            </a:pPr>
            <a:r>
              <a:rPr lang="en-US" sz="900" b="1" kern="0" spc="500" dirty="0">
                <a:solidFill>
                  <a:srgbClr val="4C8A6E"/>
                </a:solidFill>
                <a:latin typeface="Calibri" pitchFamily="34" charset="0"/>
                <a:ea typeface="Calibri" pitchFamily="34" charset="-122"/>
                <a:cs typeface="Calibri" pitchFamily="34" charset="-120"/>
              </a:rPr>
              <a:t>BUILT</a:t>
            </a:r>
            <a:endParaRPr lang="en-US" sz="900" dirty="0"/>
          </a:p>
        </p:txBody>
      </p:sp>
      <p:sp>
        <p:nvSpPr>
          <p:cNvPr id="19" name="Text 17"/>
          <p:cNvSpPr/>
          <p:nvPr/>
        </p:nvSpPr>
        <p:spPr>
          <a:xfrm>
            <a:off x="8341157" y="3108960"/>
            <a:ext cx="3027578" cy="5943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Quest progression, branching, consequences.</a:t>
            </a:r>
            <a:endParaRPr lang="en-US" sz="1300" dirty="0"/>
          </a:p>
        </p:txBody>
      </p:sp>
      <p:sp>
        <p:nvSpPr>
          <p:cNvPr id="20" name="Shape 18"/>
          <p:cNvSpPr/>
          <p:nvPr/>
        </p:nvSpPr>
        <p:spPr>
          <a:xfrm>
            <a:off x="548640" y="4023360"/>
            <a:ext cx="3576218" cy="155448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21" name="Shape 19"/>
          <p:cNvSpPr/>
          <p:nvPr/>
        </p:nvSpPr>
        <p:spPr>
          <a:xfrm>
            <a:off x="548640" y="4023360"/>
            <a:ext cx="91440" cy="1554480"/>
          </a:xfrm>
          <a:prstGeom prst="rect">
            <a:avLst/>
          </a:prstGeom>
          <a:solidFill>
            <a:srgbClr val="4C8A6E"/>
          </a:solidFill>
          <a:ln w="12700">
            <a:solidFill>
              <a:srgbClr val="4C8A6E"/>
            </a:solidFill>
            <a:prstDash val="solid"/>
          </a:ln>
        </p:spPr>
        <p:txBody>
          <a:bodyPr/>
          <a:lstStyle/>
          <a:p>
            <a:endParaRPr lang="en-US"/>
          </a:p>
        </p:txBody>
      </p:sp>
      <p:sp>
        <p:nvSpPr>
          <p:cNvPr id="22" name="Text 20"/>
          <p:cNvSpPr/>
          <p:nvPr/>
        </p:nvSpPr>
        <p:spPr>
          <a:xfrm>
            <a:off x="822960" y="4206240"/>
            <a:ext cx="3027578" cy="365760"/>
          </a:xfrm>
          <a:prstGeom prst="rect">
            <a:avLst/>
          </a:prstGeom>
          <a:noFill/>
          <a:ln/>
        </p:spPr>
        <p:txBody>
          <a:bodyPr wrap="square" lIns="0" tIns="0" rIns="0" bIns="0" rtlCol="0" anchor="ctr"/>
          <a:lstStyle/>
          <a:p>
            <a:pPr marL="0" indent="0">
              <a:buNone/>
            </a:pPr>
            <a:r>
              <a:rPr lang="en-US" sz="2200" b="1" kern="0" spc="200" dirty="0">
                <a:solidFill>
                  <a:srgbClr val="2A2218"/>
                </a:solidFill>
                <a:latin typeface="Georgia" pitchFamily="34" charset="0"/>
                <a:ea typeface="Georgia" pitchFamily="34" charset="-122"/>
                <a:cs typeface="Georgia" pitchFamily="34" charset="-120"/>
              </a:rPr>
              <a:t>RULES</a:t>
            </a:r>
            <a:endParaRPr lang="en-US" sz="2200" dirty="0"/>
          </a:p>
        </p:txBody>
      </p:sp>
      <p:sp>
        <p:nvSpPr>
          <p:cNvPr id="23" name="Text 21"/>
          <p:cNvSpPr/>
          <p:nvPr/>
        </p:nvSpPr>
        <p:spPr>
          <a:xfrm>
            <a:off x="822960" y="4572000"/>
            <a:ext cx="3027578" cy="274320"/>
          </a:xfrm>
          <a:prstGeom prst="rect">
            <a:avLst/>
          </a:prstGeom>
          <a:noFill/>
          <a:ln/>
        </p:spPr>
        <p:txBody>
          <a:bodyPr wrap="square" lIns="0" tIns="0" rIns="0" bIns="0" rtlCol="0" anchor="ctr"/>
          <a:lstStyle/>
          <a:p>
            <a:pPr marL="0" indent="0">
              <a:buNone/>
            </a:pPr>
            <a:r>
              <a:rPr lang="en-US" sz="900" b="1" kern="0" spc="500" dirty="0">
                <a:solidFill>
                  <a:srgbClr val="4C8A6E"/>
                </a:solidFill>
                <a:latin typeface="Calibri" pitchFamily="34" charset="0"/>
                <a:ea typeface="Calibri" pitchFamily="34" charset="-122"/>
                <a:cs typeface="Calibri" pitchFamily="34" charset="-120"/>
              </a:rPr>
              <a:t>BUILT</a:t>
            </a:r>
            <a:endParaRPr lang="en-US" sz="900" dirty="0"/>
          </a:p>
        </p:txBody>
      </p:sp>
      <p:sp>
        <p:nvSpPr>
          <p:cNvPr id="24" name="Text 22"/>
          <p:cNvSpPr/>
          <p:nvPr/>
        </p:nvSpPr>
        <p:spPr>
          <a:xfrm>
            <a:off x="822960" y="4892040"/>
            <a:ext cx="3027578" cy="5943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Combat, skill checks, dice resolution.</a:t>
            </a:r>
            <a:endParaRPr lang="en-US" sz="1300" dirty="0"/>
          </a:p>
        </p:txBody>
      </p:sp>
      <p:sp>
        <p:nvSpPr>
          <p:cNvPr id="25" name="Shape 23"/>
          <p:cNvSpPr/>
          <p:nvPr/>
        </p:nvSpPr>
        <p:spPr>
          <a:xfrm>
            <a:off x="4307738" y="4023360"/>
            <a:ext cx="3576218" cy="155448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27" name="Text 25"/>
          <p:cNvSpPr/>
          <p:nvPr/>
        </p:nvSpPr>
        <p:spPr>
          <a:xfrm>
            <a:off x="4582058" y="4206240"/>
            <a:ext cx="3027578" cy="365760"/>
          </a:xfrm>
          <a:prstGeom prst="rect">
            <a:avLst/>
          </a:prstGeom>
          <a:noFill/>
          <a:ln/>
        </p:spPr>
        <p:txBody>
          <a:bodyPr wrap="square" lIns="0" tIns="0" rIns="0" bIns="0" rtlCol="0" anchor="ctr"/>
          <a:lstStyle/>
          <a:p>
            <a:pPr marL="0" indent="0">
              <a:buNone/>
            </a:pPr>
            <a:r>
              <a:rPr lang="en-US" sz="2200" b="1" kern="0" spc="200" dirty="0">
                <a:solidFill>
                  <a:srgbClr val="2A2218"/>
                </a:solidFill>
                <a:latin typeface="Georgia" pitchFamily="34" charset="0"/>
                <a:ea typeface="Georgia" pitchFamily="34" charset="-122"/>
                <a:cs typeface="Georgia" pitchFamily="34" charset="-120"/>
              </a:rPr>
              <a:t>CRITIC</a:t>
            </a:r>
            <a:endParaRPr lang="en-US" sz="2200" dirty="0"/>
          </a:p>
        </p:txBody>
      </p:sp>
      <p:sp>
        <p:nvSpPr>
          <p:cNvPr id="28" name="Text 26"/>
          <p:cNvSpPr/>
          <p:nvPr/>
        </p:nvSpPr>
        <p:spPr>
          <a:xfrm>
            <a:off x="4582058" y="4572000"/>
            <a:ext cx="3027578" cy="274320"/>
          </a:xfrm>
          <a:prstGeom prst="rect">
            <a:avLst/>
          </a:prstGeom>
          <a:noFill/>
          <a:ln/>
        </p:spPr>
        <p:txBody>
          <a:bodyPr wrap="square" lIns="0" tIns="0" rIns="0" bIns="0" rtlCol="0" anchor="ctr"/>
          <a:lstStyle/>
          <a:p>
            <a:pPr marL="0" indent="0">
              <a:buNone/>
            </a:pPr>
            <a:r>
              <a:rPr lang="en-US" sz="900" b="1" kern="0" spc="500" dirty="0">
                <a:solidFill>
                  <a:srgbClr val="FF0000"/>
                </a:solidFill>
                <a:latin typeface="Calibri" pitchFamily="34" charset="0"/>
                <a:ea typeface="Calibri" pitchFamily="34" charset="-122"/>
                <a:cs typeface="Calibri" pitchFamily="34" charset="-120"/>
              </a:rPr>
              <a:t>NOT BUILT</a:t>
            </a:r>
            <a:endParaRPr lang="en-US" sz="900" dirty="0">
              <a:solidFill>
                <a:srgbClr val="FF0000"/>
              </a:solidFill>
            </a:endParaRPr>
          </a:p>
        </p:txBody>
      </p:sp>
      <p:sp>
        <p:nvSpPr>
          <p:cNvPr id="29" name="Text 27"/>
          <p:cNvSpPr/>
          <p:nvPr/>
        </p:nvSpPr>
        <p:spPr>
          <a:xfrm>
            <a:off x="4582058" y="4892040"/>
            <a:ext cx="3027578" cy="5943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Validate proposals before commit.</a:t>
            </a:r>
            <a:endParaRPr lang="en-US" sz="1300" dirty="0"/>
          </a:p>
        </p:txBody>
      </p:sp>
      <p:sp>
        <p:nvSpPr>
          <p:cNvPr id="30" name="Shape 28"/>
          <p:cNvSpPr/>
          <p:nvPr/>
        </p:nvSpPr>
        <p:spPr>
          <a:xfrm>
            <a:off x="8066837" y="4023360"/>
            <a:ext cx="3576218" cy="155448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32" name="Text 30"/>
          <p:cNvSpPr/>
          <p:nvPr/>
        </p:nvSpPr>
        <p:spPr>
          <a:xfrm>
            <a:off x="8341157" y="4206240"/>
            <a:ext cx="3027578" cy="365760"/>
          </a:xfrm>
          <a:prstGeom prst="rect">
            <a:avLst/>
          </a:prstGeom>
          <a:noFill/>
          <a:ln/>
        </p:spPr>
        <p:txBody>
          <a:bodyPr wrap="square" lIns="0" tIns="0" rIns="0" bIns="0" rtlCol="0" anchor="ctr"/>
          <a:lstStyle/>
          <a:p>
            <a:pPr marL="0" indent="0">
              <a:buNone/>
            </a:pPr>
            <a:r>
              <a:rPr lang="en-US" sz="2200" b="1" kern="0" spc="200" dirty="0">
                <a:solidFill>
                  <a:srgbClr val="2A2218"/>
                </a:solidFill>
                <a:latin typeface="Georgia" pitchFamily="34" charset="0"/>
                <a:ea typeface="Georgia" pitchFamily="34" charset="-122"/>
                <a:cs typeface="Georgia" pitchFamily="34" charset="-120"/>
              </a:rPr>
              <a:t>NARRATOR</a:t>
            </a:r>
            <a:endParaRPr lang="en-US" sz="2200" dirty="0"/>
          </a:p>
        </p:txBody>
      </p:sp>
      <p:sp>
        <p:nvSpPr>
          <p:cNvPr id="34" name="Text 32"/>
          <p:cNvSpPr/>
          <p:nvPr/>
        </p:nvSpPr>
        <p:spPr>
          <a:xfrm>
            <a:off x="8341157" y="4892040"/>
            <a:ext cx="3027578" cy="5943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Convert outcomes into player-facing prose.</a:t>
            </a:r>
            <a:endParaRPr lang="en-US" sz="1300" dirty="0"/>
          </a:p>
        </p:txBody>
      </p:sp>
      <p:sp>
        <p:nvSpPr>
          <p:cNvPr id="35" name="Text 33"/>
          <p:cNvSpPr/>
          <p:nvPr/>
        </p:nvSpPr>
        <p:spPr>
          <a:xfrm>
            <a:off x="548640" y="5852160"/>
            <a:ext cx="11094415" cy="457200"/>
          </a:xfrm>
          <a:prstGeom prst="rect">
            <a:avLst/>
          </a:prstGeom>
          <a:noFill/>
          <a:ln/>
        </p:spPr>
        <p:txBody>
          <a:bodyPr wrap="square" lIns="0" tIns="0" rIns="0" bIns="0" rtlCol="0" anchor="ctr"/>
          <a:lstStyle/>
          <a:p>
            <a:pPr marL="0" indent="0" algn="ctr">
              <a:buNone/>
            </a:pPr>
            <a:endParaRPr lang="en-US" sz="1300" dirty="0"/>
          </a:p>
        </p:txBody>
      </p:sp>
      <p:sp>
        <p:nvSpPr>
          <p:cNvPr id="36" name="Text 34"/>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37" name="Text 35"/>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4 / 14</a:t>
            </a:r>
            <a:endParaRPr lang="en-US" sz="900" dirty="0"/>
          </a:p>
        </p:txBody>
      </p:sp>
      <p:sp>
        <p:nvSpPr>
          <p:cNvPr id="38" name="Shape 14">
            <a:extLst>
              <a:ext uri="{FF2B5EF4-FFF2-40B4-BE49-F238E27FC236}">
                <a16:creationId xmlns:a16="http://schemas.microsoft.com/office/drawing/2014/main" id="{399DAEA4-211F-56EB-7C79-F4021EFEE2E4}"/>
              </a:ext>
            </a:extLst>
          </p:cNvPr>
          <p:cNvSpPr/>
          <p:nvPr/>
        </p:nvSpPr>
        <p:spPr>
          <a:xfrm>
            <a:off x="8082599" y="3948249"/>
            <a:ext cx="91440" cy="1554480"/>
          </a:xfrm>
          <a:prstGeom prst="rect">
            <a:avLst/>
          </a:prstGeom>
          <a:solidFill>
            <a:srgbClr val="4C8A6E"/>
          </a:solidFill>
          <a:ln w="12700">
            <a:solidFill>
              <a:srgbClr val="4C8A6E"/>
            </a:solidFill>
            <a:prstDash val="solid"/>
          </a:ln>
        </p:spPr>
        <p:txBody>
          <a:bodyPr/>
          <a:lstStyle/>
          <a:p>
            <a:endParaRPr lang="en-US"/>
          </a:p>
        </p:txBody>
      </p:sp>
      <p:sp>
        <p:nvSpPr>
          <p:cNvPr id="39" name="Text 16">
            <a:extLst>
              <a:ext uri="{FF2B5EF4-FFF2-40B4-BE49-F238E27FC236}">
                <a16:creationId xmlns:a16="http://schemas.microsoft.com/office/drawing/2014/main" id="{E14B030E-C0C0-C1B5-7A01-505D93D4227A}"/>
              </a:ext>
            </a:extLst>
          </p:cNvPr>
          <p:cNvSpPr/>
          <p:nvPr/>
        </p:nvSpPr>
        <p:spPr>
          <a:xfrm>
            <a:off x="8394758" y="4572000"/>
            <a:ext cx="3027578" cy="274320"/>
          </a:xfrm>
          <a:prstGeom prst="rect">
            <a:avLst/>
          </a:prstGeom>
          <a:noFill/>
          <a:ln/>
        </p:spPr>
        <p:txBody>
          <a:bodyPr wrap="square" lIns="0" tIns="0" rIns="0" bIns="0" rtlCol="0" anchor="ctr"/>
          <a:lstStyle/>
          <a:p>
            <a:pPr marL="0" indent="0">
              <a:buNone/>
            </a:pPr>
            <a:r>
              <a:rPr lang="en-US" sz="900" b="1" kern="0" spc="500" dirty="0">
                <a:solidFill>
                  <a:srgbClr val="4C8A6E"/>
                </a:solidFill>
                <a:latin typeface="Calibri" pitchFamily="34" charset="0"/>
                <a:ea typeface="Calibri" pitchFamily="34" charset="-122"/>
                <a:cs typeface="Calibri" pitchFamily="34" charset="-120"/>
              </a:rPr>
              <a:t>BUILT</a:t>
            </a:r>
            <a:endParaRPr lang="en-US" sz="900" dirty="0"/>
          </a:p>
        </p:txBody>
      </p:sp>
      <p:sp>
        <p:nvSpPr>
          <p:cNvPr id="31" name="Shape 24">
            <a:extLst>
              <a:ext uri="{FF2B5EF4-FFF2-40B4-BE49-F238E27FC236}">
                <a16:creationId xmlns:a16="http://schemas.microsoft.com/office/drawing/2014/main" id="{F4F24C6C-9AA0-4E5E-57B6-B2777899AE76}"/>
              </a:ext>
            </a:extLst>
          </p:cNvPr>
          <p:cNvSpPr/>
          <p:nvPr/>
        </p:nvSpPr>
        <p:spPr>
          <a:xfrm>
            <a:off x="4321982" y="4023360"/>
            <a:ext cx="91440" cy="1554480"/>
          </a:xfrm>
          <a:prstGeom prst="rect">
            <a:avLst/>
          </a:prstGeom>
          <a:solidFill>
            <a:srgbClr val="C00000"/>
          </a:solidFill>
          <a:ln w="12700">
            <a:solidFill>
              <a:srgbClr val="4C8A6E"/>
            </a:solidFill>
            <a:prstDash val="solid"/>
          </a:ln>
        </p:spPr>
        <p:txBody>
          <a:bodyPr/>
          <a:lstStyle/>
          <a:p>
            <a:endParaRPr lang="en-US" dirty="0">
              <a:solidFill>
                <a:srgbClr val="FF0000"/>
              </a:solidFill>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1097280" y="2194560"/>
            <a:ext cx="9144000" cy="457200"/>
          </a:xfrm>
          <a:prstGeom prst="rect">
            <a:avLst/>
          </a:prstGeom>
          <a:noFill/>
          <a:ln/>
        </p:spPr>
        <p:txBody>
          <a:bodyPr wrap="square" lIns="0" tIns="0" rIns="0" bIns="0" rtlCol="0" anchor="ctr"/>
          <a:lstStyle/>
          <a:p>
            <a:pPr marL="0" indent="0">
              <a:buNone/>
            </a:pPr>
            <a:r>
              <a:rPr lang="en-US" sz="1400" b="1" kern="0" spc="800" dirty="0">
                <a:solidFill>
                  <a:srgbClr val="C8A24B"/>
                </a:solidFill>
                <a:latin typeface="Calibri" pitchFamily="34" charset="0"/>
                <a:ea typeface="Calibri" pitchFamily="34" charset="-122"/>
                <a:cs typeface="Calibri" pitchFamily="34" charset="-120"/>
              </a:rPr>
              <a:t>PART II   ·   MAZIN</a:t>
            </a:r>
            <a:endParaRPr lang="en-US" sz="1400" dirty="0"/>
          </a:p>
        </p:txBody>
      </p:sp>
      <p:sp>
        <p:nvSpPr>
          <p:cNvPr id="4" name="Text 2"/>
          <p:cNvSpPr/>
          <p:nvPr/>
        </p:nvSpPr>
        <p:spPr>
          <a:xfrm>
            <a:off x="1097280" y="2697480"/>
            <a:ext cx="10058400" cy="1188720"/>
          </a:xfrm>
          <a:prstGeom prst="rect">
            <a:avLst/>
          </a:prstGeom>
          <a:noFill/>
          <a:ln/>
        </p:spPr>
        <p:txBody>
          <a:bodyPr wrap="square" lIns="0" tIns="0" rIns="0" bIns="0" rtlCol="0" anchor="ctr"/>
          <a:lstStyle/>
          <a:p>
            <a:pPr marL="0" indent="0">
              <a:buNone/>
            </a:pPr>
            <a:r>
              <a:rPr lang="en-US" sz="5600" b="1" i="1" dirty="0">
                <a:solidFill>
                  <a:srgbClr val="F1E6CF"/>
                </a:solidFill>
                <a:latin typeface="Georgia" pitchFamily="34" charset="0"/>
                <a:ea typeface="Georgia" pitchFamily="34" charset="-122"/>
                <a:cs typeface="Georgia" pitchFamily="34" charset="-120"/>
              </a:rPr>
              <a:t>The Knowledge Layer</a:t>
            </a:r>
            <a:endParaRPr lang="en-US" sz="5600" dirty="0"/>
          </a:p>
        </p:txBody>
      </p:sp>
      <p:sp>
        <p:nvSpPr>
          <p:cNvPr id="5" name="Text 3"/>
          <p:cNvSpPr/>
          <p:nvPr/>
        </p:nvSpPr>
        <p:spPr>
          <a:xfrm>
            <a:off x="1097280" y="3977640"/>
            <a:ext cx="10058400" cy="502920"/>
          </a:xfrm>
          <a:prstGeom prst="rect">
            <a:avLst/>
          </a:prstGeom>
          <a:noFill/>
          <a:ln/>
        </p:spPr>
        <p:txBody>
          <a:bodyPr wrap="square" lIns="0" tIns="0" rIns="0" bIns="0" rtlCol="0" anchor="ctr"/>
          <a:lstStyle/>
          <a:p>
            <a:pPr marL="0" indent="0">
              <a:buNone/>
            </a:pPr>
            <a:r>
              <a:rPr lang="en-US" sz="2000" i="1" dirty="0">
                <a:solidFill>
                  <a:srgbClr val="B9A985"/>
                </a:solidFill>
                <a:latin typeface="Calibri" pitchFamily="34" charset="0"/>
                <a:ea typeface="Calibri" pitchFamily="34" charset="-122"/>
                <a:cs typeface="Calibri" pitchFamily="34" charset="-120"/>
              </a:rPr>
              <a:t>Everything the system actually knows.</a:t>
            </a:r>
            <a:endParaRPr lang="en-US" sz="2000" dirty="0"/>
          </a:p>
        </p:txBody>
      </p:sp>
      <p:sp>
        <p:nvSpPr>
          <p:cNvPr id="6" name="Text 4"/>
          <p:cNvSpPr/>
          <p:nvPr/>
        </p:nvSpPr>
        <p:spPr>
          <a:xfrm>
            <a:off x="1097280" y="4663440"/>
            <a:ext cx="914400" cy="548640"/>
          </a:xfrm>
          <a:prstGeom prst="rect">
            <a:avLst/>
          </a:prstGeom>
          <a:noFill/>
          <a:ln/>
        </p:spPr>
        <p:txBody>
          <a:bodyPr wrap="square" lIns="0" tIns="0" rIns="0" bIns="0" rtlCol="0" anchor="ctr"/>
          <a:lstStyle/>
          <a:p>
            <a:pPr marL="0" indent="0">
              <a:buNone/>
            </a:pPr>
            <a:r>
              <a:rPr lang="en-US" sz="2800" dirty="0">
                <a:solidFill>
                  <a:srgbClr val="9B2A3A"/>
                </a:solidFill>
                <a:latin typeface="Georgia" pitchFamily="34" charset="0"/>
                <a:ea typeface="Georgia" pitchFamily="34" charset="-122"/>
                <a:cs typeface="Georgia" pitchFamily="34" charset="-120"/>
              </a:rPr>
              <a:t>❦</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Data, agent, and the bridge between them.</a:t>
            </a:r>
            <a:endParaRPr lang="en-US" sz="3200" dirty="0"/>
          </a:p>
        </p:txBody>
      </p:sp>
      <p:sp>
        <p:nvSpPr>
          <p:cNvPr id="5" name="Shape 3"/>
          <p:cNvSpPr/>
          <p:nvPr/>
        </p:nvSpPr>
        <p:spPr>
          <a:xfrm>
            <a:off x="548640" y="2240280"/>
            <a:ext cx="5410048" cy="173736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6" name="Shape 4"/>
          <p:cNvSpPr/>
          <p:nvPr/>
        </p:nvSpPr>
        <p:spPr>
          <a:xfrm>
            <a:off x="548640" y="2240280"/>
            <a:ext cx="91440" cy="1737360"/>
          </a:xfrm>
          <a:prstGeom prst="rect">
            <a:avLst/>
          </a:prstGeom>
          <a:solidFill>
            <a:srgbClr val="C8A24B"/>
          </a:solidFill>
          <a:ln w="12700">
            <a:solidFill>
              <a:srgbClr val="C8A24B"/>
            </a:solidFill>
            <a:prstDash val="solid"/>
          </a:ln>
        </p:spPr>
        <p:txBody>
          <a:bodyPr/>
          <a:lstStyle/>
          <a:p>
            <a:endParaRPr lang="en-US"/>
          </a:p>
        </p:txBody>
      </p:sp>
      <p:sp>
        <p:nvSpPr>
          <p:cNvPr id="7" name="Text 5"/>
          <p:cNvSpPr/>
          <p:nvPr/>
        </p:nvSpPr>
        <p:spPr>
          <a:xfrm>
            <a:off x="822960" y="2468880"/>
            <a:ext cx="4861408" cy="411480"/>
          </a:xfrm>
          <a:prstGeom prst="rect">
            <a:avLst/>
          </a:prstGeom>
          <a:noFill/>
          <a:ln/>
        </p:spPr>
        <p:txBody>
          <a:bodyPr wrap="square" lIns="0" tIns="0" rIns="0" bIns="0" rtlCol="0" anchor="ctr"/>
          <a:lstStyle/>
          <a:p>
            <a:pPr marL="0" indent="0">
              <a:buNone/>
            </a:pPr>
            <a:r>
              <a:rPr lang="en-US" sz="2000" b="1" dirty="0">
                <a:solidFill>
                  <a:srgbClr val="2A2218"/>
                </a:solidFill>
                <a:latin typeface="Georgia" pitchFamily="34" charset="0"/>
                <a:ea typeface="Georgia" pitchFamily="34" charset="-122"/>
                <a:cs typeface="Georgia" pitchFamily="34" charset="-120"/>
              </a:rPr>
              <a:t>Quest Agent</a:t>
            </a:r>
            <a:endParaRPr lang="en-US" sz="2000" dirty="0"/>
          </a:p>
        </p:txBody>
      </p:sp>
      <p:sp>
        <p:nvSpPr>
          <p:cNvPr id="8" name="Text 6"/>
          <p:cNvSpPr/>
          <p:nvPr/>
        </p:nvSpPr>
        <p:spPr>
          <a:xfrm>
            <a:off x="822960" y="2880360"/>
            <a:ext cx="4861408" cy="274320"/>
          </a:xfrm>
          <a:prstGeom prst="rect">
            <a:avLst/>
          </a:prstGeom>
          <a:noFill/>
          <a:ln/>
        </p:spPr>
        <p:txBody>
          <a:bodyPr wrap="square" lIns="0" tIns="0" rIns="0" bIns="0" rtlCol="0" anchor="ctr"/>
          <a:lstStyle/>
          <a:p>
            <a:pPr marL="0" indent="0">
              <a:buNone/>
            </a:pPr>
            <a:r>
              <a:rPr lang="en-US" sz="1000" dirty="0">
                <a:solidFill>
                  <a:srgbClr val="9B2A3A"/>
                </a:solidFill>
                <a:latin typeface="Consolas" pitchFamily="34" charset="0"/>
                <a:ea typeface="Consolas" pitchFamily="34" charset="-122"/>
                <a:cs typeface="Consolas" pitchFamily="34" charset="-120"/>
              </a:rPr>
              <a:t>src/agents/quest_agent.py</a:t>
            </a:r>
            <a:endParaRPr lang="en-US" sz="1000" dirty="0"/>
          </a:p>
        </p:txBody>
      </p:sp>
      <p:sp>
        <p:nvSpPr>
          <p:cNvPr id="9" name="Text 7"/>
          <p:cNvSpPr/>
          <p:nvPr/>
        </p:nvSpPr>
        <p:spPr>
          <a:xfrm>
            <a:off x="822960" y="3200400"/>
            <a:ext cx="4861408" cy="64008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Specialist that interprets how a player's action affects active quests — progression, branching, hooks, rewards. Returns proposals only; never modifies state directly.</a:t>
            </a:r>
            <a:endParaRPr lang="en-US" sz="1300" dirty="0"/>
          </a:p>
        </p:txBody>
      </p:sp>
      <p:sp>
        <p:nvSpPr>
          <p:cNvPr id="10" name="Shape 8"/>
          <p:cNvSpPr/>
          <p:nvPr/>
        </p:nvSpPr>
        <p:spPr>
          <a:xfrm>
            <a:off x="6233008" y="2240280"/>
            <a:ext cx="5410048" cy="173736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11" name="Shape 9"/>
          <p:cNvSpPr/>
          <p:nvPr/>
        </p:nvSpPr>
        <p:spPr>
          <a:xfrm>
            <a:off x="6233008" y="2240280"/>
            <a:ext cx="91440" cy="1737360"/>
          </a:xfrm>
          <a:prstGeom prst="rect">
            <a:avLst/>
          </a:prstGeom>
          <a:solidFill>
            <a:srgbClr val="C8A24B"/>
          </a:solidFill>
          <a:ln w="12700">
            <a:solidFill>
              <a:srgbClr val="C8A24B"/>
            </a:solidFill>
            <a:prstDash val="solid"/>
          </a:ln>
        </p:spPr>
        <p:txBody>
          <a:bodyPr/>
          <a:lstStyle/>
          <a:p>
            <a:endParaRPr lang="en-US"/>
          </a:p>
        </p:txBody>
      </p:sp>
      <p:sp>
        <p:nvSpPr>
          <p:cNvPr id="12" name="Text 10"/>
          <p:cNvSpPr/>
          <p:nvPr/>
        </p:nvSpPr>
        <p:spPr>
          <a:xfrm>
            <a:off x="6507328" y="2468880"/>
            <a:ext cx="4861408" cy="411480"/>
          </a:xfrm>
          <a:prstGeom prst="rect">
            <a:avLst/>
          </a:prstGeom>
          <a:noFill/>
          <a:ln/>
        </p:spPr>
        <p:txBody>
          <a:bodyPr wrap="square" lIns="0" tIns="0" rIns="0" bIns="0" rtlCol="0" anchor="ctr"/>
          <a:lstStyle/>
          <a:p>
            <a:pPr marL="0" indent="0">
              <a:buNone/>
            </a:pPr>
            <a:r>
              <a:rPr lang="en-US" sz="2000" b="1" dirty="0">
                <a:solidFill>
                  <a:srgbClr val="2A2218"/>
                </a:solidFill>
                <a:latin typeface="Georgia" pitchFamily="34" charset="0"/>
                <a:ea typeface="Georgia" pitchFamily="34" charset="-122"/>
                <a:cs typeface="Georgia" pitchFamily="34" charset="-120"/>
              </a:rPr>
              <a:t>Seed data</a:t>
            </a:r>
            <a:endParaRPr lang="en-US" sz="2000" dirty="0"/>
          </a:p>
        </p:txBody>
      </p:sp>
      <p:sp>
        <p:nvSpPr>
          <p:cNvPr id="13" name="Text 11"/>
          <p:cNvSpPr/>
          <p:nvPr/>
        </p:nvSpPr>
        <p:spPr>
          <a:xfrm>
            <a:off x="6507328" y="2880360"/>
            <a:ext cx="4861408" cy="274320"/>
          </a:xfrm>
          <a:prstGeom prst="rect">
            <a:avLst/>
          </a:prstGeom>
          <a:noFill/>
          <a:ln/>
        </p:spPr>
        <p:txBody>
          <a:bodyPr wrap="square" lIns="0" tIns="0" rIns="0" bIns="0" rtlCol="0" anchor="ctr"/>
          <a:lstStyle/>
          <a:p>
            <a:pPr marL="0" indent="0">
              <a:buNone/>
            </a:pPr>
            <a:r>
              <a:rPr lang="en-US" sz="1000" dirty="0">
                <a:solidFill>
                  <a:srgbClr val="9B2A3A"/>
                </a:solidFill>
                <a:latin typeface="Consolas" pitchFamily="34" charset="0"/>
                <a:ea typeface="Consolas" pitchFamily="34" charset="-122"/>
                <a:cs typeface="Consolas" pitchFamily="34" charset="-120"/>
              </a:rPr>
              <a:t>data/world · data/npcs · data/quests</a:t>
            </a:r>
            <a:endParaRPr lang="en-US" sz="1000" dirty="0"/>
          </a:p>
        </p:txBody>
      </p:sp>
      <p:sp>
        <p:nvSpPr>
          <p:cNvPr id="14" name="Text 12"/>
          <p:cNvSpPr/>
          <p:nvPr/>
        </p:nvSpPr>
        <p:spPr>
          <a:xfrm>
            <a:off x="6507328" y="3200400"/>
            <a:ext cx="4861408" cy="64008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The Oakshade scenario — one starting village, three NPCs with distinct personalities and goals, one branching quest with three objectives.</a:t>
            </a:r>
            <a:endParaRPr lang="en-US" sz="1300" dirty="0"/>
          </a:p>
        </p:txBody>
      </p:sp>
      <p:sp>
        <p:nvSpPr>
          <p:cNvPr id="15" name="Shape 13"/>
          <p:cNvSpPr/>
          <p:nvPr/>
        </p:nvSpPr>
        <p:spPr>
          <a:xfrm>
            <a:off x="548640" y="4206240"/>
            <a:ext cx="5410048" cy="173736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16" name="Shape 14"/>
          <p:cNvSpPr/>
          <p:nvPr/>
        </p:nvSpPr>
        <p:spPr>
          <a:xfrm>
            <a:off x="548640" y="4206240"/>
            <a:ext cx="91440" cy="1737360"/>
          </a:xfrm>
          <a:prstGeom prst="rect">
            <a:avLst/>
          </a:prstGeom>
          <a:solidFill>
            <a:srgbClr val="C8A24B"/>
          </a:solidFill>
          <a:ln w="12700">
            <a:solidFill>
              <a:srgbClr val="C8A24B"/>
            </a:solidFill>
            <a:prstDash val="solid"/>
          </a:ln>
        </p:spPr>
        <p:txBody>
          <a:bodyPr/>
          <a:lstStyle/>
          <a:p>
            <a:endParaRPr lang="en-US"/>
          </a:p>
        </p:txBody>
      </p:sp>
      <p:sp>
        <p:nvSpPr>
          <p:cNvPr id="17" name="Text 15"/>
          <p:cNvSpPr/>
          <p:nvPr/>
        </p:nvSpPr>
        <p:spPr>
          <a:xfrm>
            <a:off x="822960" y="4434840"/>
            <a:ext cx="4861408" cy="411480"/>
          </a:xfrm>
          <a:prstGeom prst="rect">
            <a:avLst/>
          </a:prstGeom>
          <a:noFill/>
          <a:ln/>
        </p:spPr>
        <p:txBody>
          <a:bodyPr wrap="square" lIns="0" tIns="0" rIns="0" bIns="0" rtlCol="0" anchor="ctr"/>
          <a:lstStyle/>
          <a:p>
            <a:pPr marL="0" indent="0">
              <a:buNone/>
            </a:pPr>
            <a:r>
              <a:rPr lang="en-US" sz="2000" b="1" dirty="0">
                <a:solidFill>
                  <a:srgbClr val="2A2218"/>
                </a:solidFill>
                <a:latin typeface="Georgia" pitchFamily="34" charset="0"/>
                <a:ea typeface="Georgia" pitchFamily="34" charset="-122"/>
                <a:cs typeface="Georgia" pitchFamily="34" charset="-120"/>
              </a:rPr>
              <a:t>Retrieval layer</a:t>
            </a:r>
            <a:endParaRPr lang="en-US" sz="2000" dirty="0"/>
          </a:p>
        </p:txBody>
      </p:sp>
      <p:sp>
        <p:nvSpPr>
          <p:cNvPr id="18" name="Text 16"/>
          <p:cNvSpPr/>
          <p:nvPr/>
        </p:nvSpPr>
        <p:spPr>
          <a:xfrm>
            <a:off x="822960" y="4846320"/>
            <a:ext cx="4861408" cy="274320"/>
          </a:xfrm>
          <a:prstGeom prst="rect">
            <a:avLst/>
          </a:prstGeom>
          <a:noFill/>
          <a:ln/>
        </p:spPr>
        <p:txBody>
          <a:bodyPr wrap="square" lIns="0" tIns="0" rIns="0" bIns="0" rtlCol="0" anchor="ctr"/>
          <a:lstStyle/>
          <a:p>
            <a:pPr marL="0" indent="0">
              <a:buNone/>
            </a:pPr>
            <a:r>
              <a:rPr lang="en-US" sz="1000" dirty="0">
                <a:solidFill>
                  <a:srgbClr val="9B2A3A"/>
                </a:solidFill>
                <a:latin typeface="Consolas" pitchFamily="34" charset="0"/>
                <a:ea typeface="Consolas" pitchFamily="34" charset="-122"/>
                <a:cs typeface="Consolas" pitchFamily="34" charset="-120"/>
              </a:rPr>
              <a:t>src/retrieval.py</a:t>
            </a:r>
            <a:endParaRPr lang="en-US" sz="1000" dirty="0"/>
          </a:p>
        </p:txBody>
      </p:sp>
      <p:sp>
        <p:nvSpPr>
          <p:cNvPr id="19" name="Text 17"/>
          <p:cNvSpPr/>
          <p:nvPr/>
        </p:nvSpPr>
        <p:spPr>
          <a:xfrm>
            <a:off x="822960" y="5166360"/>
            <a:ext cx="4861408" cy="64008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Bridge between live GameState and seed data. For each agent, builds a clean Pydantic input. Reads runtime state first, enriches from JSON for fields the runtime doesn't carry yet.</a:t>
            </a:r>
            <a:endParaRPr lang="en-US" sz="1300" dirty="0"/>
          </a:p>
        </p:txBody>
      </p:sp>
      <p:sp>
        <p:nvSpPr>
          <p:cNvPr id="20" name="Shape 18"/>
          <p:cNvSpPr/>
          <p:nvPr/>
        </p:nvSpPr>
        <p:spPr>
          <a:xfrm>
            <a:off x="6233008" y="4206240"/>
            <a:ext cx="5410048" cy="173736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21" name="Shape 19"/>
          <p:cNvSpPr/>
          <p:nvPr/>
        </p:nvSpPr>
        <p:spPr>
          <a:xfrm>
            <a:off x="6233008" y="4206240"/>
            <a:ext cx="91440" cy="1737360"/>
          </a:xfrm>
          <a:prstGeom prst="rect">
            <a:avLst/>
          </a:prstGeom>
          <a:solidFill>
            <a:srgbClr val="C8A24B"/>
          </a:solidFill>
          <a:ln w="12700">
            <a:solidFill>
              <a:srgbClr val="C8A24B"/>
            </a:solidFill>
            <a:prstDash val="solid"/>
          </a:ln>
        </p:spPr>
        <p:txBody>
          <a:bodyPr/>
          <a:lstStyle/>
          <a:p>
            <a:endParaRPr lang="en-US"/>
          </a:p>
        </p:txBody>
      </p:sp>
      <p:sp>
        <p:nvSpPr>
          <p:cNvPr id="22" name="Text 20"/>
          <p:cNvSpPr/>
          <p:nvPr/>
        </p:nvSpPr>
        <p:spPr>
          <a:xfrm>
            <a:off x="6507328" y="4434840"/>
            <a:ext cx="4861408" cy="411480"/>
          </a:xfrm>
          <a:prstGeom prst="rect">
            <a:avLst/>
          </a:prstGeom>
          <a:noFill/>
          <a:ln/>
        </p:spPr>
        <p:txBody>
          <a:bodyPr wrap="square" lIns="0" tIns="0" rIns="0" bIns="0" rtlCol="0" anchor="ctr"/>
          <a:lstStyle/>
          <a:p>
            <a:pPr marL="0" indent="0">
              <a:buNone/>
            </a:pPr>
            <a:r>
              <a:rPr lang="en-US" sz="2000" b="1" dirty="0">
                <a:solidFill>
                  <a:srgbClr val="2A2218"/>
                </a:solidFill>
                <a:latin typeface="Georgia" pitchFamily="34" charset="0"/>
                <a:ea typeface="Georgia" pitchFamily="34" charset="-122"/>
                <a:cs typeface="Georgia" pitchFamily="34" charset="-120"/>
              </a:rPr>
              <a:t>Notebook + browser demo</a:t>
            </a:r>
            <a:endParaRPr lang="en-US" sz="2000" dirty="0"/>
          </a:p>
        </p:txBody>
      </p:sp>
      <p:sp>
        <p:nvSpPr>
          <p:cNvPr id="23" name="Text 21"/>
          <p:cNvSpPr/>
          <p:nvPr/>
        </p:nvSpPr>
        <p:spPr>
          <a:xfrm>
            <a:off x="6507328" y="4846320"/>
            <a:ext cx="4861408" cy="274320"/>
          </a:xfrm>
          <a:prstGeom prst="rect">
            <a:avLst/>
          </a:prstGeom>
          <a:noFill/>
          <a:ln/>
        </p:spPr>
        <p:txBody>
          <a:bodyPr wrap="square" lIns="0" tIns="0" rIns="0" bIns="0" rtlCol="0" anchor="ctr"/>
          <a:lstStyle/>
          <a:p>
            <a:pPr marL="0" indent="0">
              <a:buNone/>
            </a:pPr>
            <a:r>
              <a:rPr lang="en-US" sz="1000" dirty="0">
                <a:solidFill>
                  <a:srgbClr val="9B2A3A"/>
                </a:solidFill>
                <a:latin typeface="Consolas" pitchFamily="34" charset="0"/>
                <a:ea typeface="Consolas" pitchFamily="34" charset="-122"/>
                <a:cs typeface="Consolas" pitchFamily="34" charset="-120"/>
              </a:rPr>
              <a:t>notebooks/ · demo/ · src/api.py</a:t>
            </a:r>
            <a:endParaRPr lang="en-US" sz="1000" dirty="0"/>
          </a:p>
        </p:txBody>
      </p:sp>
      <p:sp>
        <p:nvSpPr>
          <p:cNvPr id="24" name="Text 22"/>
          <p:cNvSpPr/>
          <p:nvPr/>
        </p:nvSpPr>
        <p:spPr>
          <a:xfrm>
            <a:off x="6507328" y="5166360"/>
            <a:ext cx="4861408" cy="64008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End-to-end notebook proving the knowledge layer works, plus a FastAPI backend and styled HTML frontend that calls the real agents during a session.</a:t>
            </a:r>
            <a:endParaRPr lang="en-US" sz="1300" dirty="0"/>
          </a:p>
        </p:txBody>
      </p:sp>
      <p:sp>
        <p:nvSpPr>
          <p:cNvPr id="25" name="Text 23"/>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26" name="Text 24"/>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ONE TURN, END-TO-END</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“I walk up to the bar and ask Mara what's been happening.”</a:t>
            </a:r>
            <a:endParaRPr lang="en-US" sz="3200" dirty="0"/>
          </a:p>
        </p:txBody>
      </p:sp>
      <p:sp>
        <p:nvSpPr>
          <p:cNvPr id="5" name="Shape 3"/>
          <p:cNvSpPr/>
          <p:nvPr/>
        </p:nvSpPr>
        <p:spPr>
          <a:xfrm>
            <a:off x="594360" y="2240280"/>
            <a:ext cx="457200" cy="457200"/>
          </a:xfrm>
          <a:prstGeom prst="ellipse">
            <a:avLst/>
          </a:prstGeom>
          <a:solidFill>
            <a:srgbClr val="C8A24B"/>
          </a:solidFill>
          <a:ln w="12700">
            <a:solidFill>
              <a:srgbClr val="C8A24B"/>
            </a:solidFill>
            <a:prstDash val="solid"/>
          </a:ln>
        </p:spPr>
        <p:txBody>
          <a:bodyPr/>
          <a:lstStyle/>
          <a:p>
            <a:endParaRPr lang="en-US"/>
          </a:p>
        </p:txBody>
      </p:sp>
      <p:sp>
        <p:nvSpPr>
          <p:cNvPr id="6" name="Text 4"/>
          <p:cNvSpPr/>
          <p:nvPr/>
        </p:nvSpPr>
        <p:spPr>
          <a:xfrm>
            <a:off x="594360" y="224028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234440" y="2240280"/>
            <a:ext cx="2286000" cy="457200"/>
          </a:xfrm>
          <a:prstGeom prst="rect">
            <a:avLst/>
          </a:prstGeom>
          <a:noFill/>
          <a:ln/>
        </p:spPr>
        <p:txBody>
          <a:bodyPr wrap="square" lIns="0" tIns="0" rIns="0" bIns="0" rtlCol="0" anchor="ctr"/>
          <a:lstStyle/>
          <a:p>
            <a:pPr marL="0" indent="0">
              <a:buNone/>
            </a:pPr>
            <a:r>
              <a:rPr lang="en-US" sz="1400" b="1" kern="0" spc="200" dirty="0">
                <a:solidFill>
                  <a:srgbClr val="2A2218"/>
                </a:solidFill>
                <a:latin typeface="Calibri" pitchFamily="34" charset="0"/>
                <a:ea typeface="Calibri" pitchFamily="34" charset="-122"/>
                <a:cs typeface="Calibri" pitchFamily="34" charset="-120"/>
              </a:rPr>
              <a:t>Supervisor</a:t>
            </a:r>
            <a:endParaRPr lang="en-US" sz="1400" dirty="0"/>
          </a:p>
        </p:txBody>
      </p:sp>
      <p:sp>
        <p:nvSpPr>
          <p:cNvPr id="8" name="Text 6"/>
          <p:cNvSpPr/>
          <p:nvPr/>
        </p:nvSpPr>
        <p:spPr>
          <a:xfrm>
            <a:off x="3566160" y="2240280"/>
            <a:ext cx="8076895" cy="45720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Resets transient turn state, advances counter, stores the action.</a:t>
            </a:r>
            <a:endParaRPr lang="en-US" sz="1300" dirty="0"/>
          </a:p>
        </p:txBody>
      </p:sp>
      <p:sp>
        <p:nvSpPr>
          <p:cNvPr id="9" name="Shape 7"/>
          <p:cNvSpPr/>
          <p:nvPr/>
        </p:nvSpPr>
        <p:spPr>
          <a:xfrm>
            <a:off x="1234440" y="2724912"/>
            <a:ext cx="10408615" cy="0"/>
          </a:xfrm>
          <a:prstGeom prst="line">
            <a:avLst/>
          </a:prstGeom>
          <a:noFill/>
          <a:ln w="6350">
            <a:solidFill>
              <a:srgbClr val="DDD0B0"/>
            </a:solidFill>
            <a:prstDash val="solid"/>
          </a:ln>
        </p:spPr>
        <p:txBody>
          <a:bodyPr/>
          <a:lstStyle/>
          <a:p>
            <a:endParaRPr lang="en-US"/>
          </a:p>
        </p:txBody>
      </p:sp>
      <p:sp>
        <p:nvSpPr>
          <p:cNvPr id="10" name="Shape 8"/>
          <p:cNvSpPr/>
          <p:nvPr/>
        </p:nvSpPr>
        <p:spPr>
          <a:xfrm>
            <a:off x="594360" y="2788920"/>
            <a:ext cx="457200" cy="457200"/>
          </a:xfrm>
          <a:prstGeom prst="ellipse">
            <a:avLst/>
          </a:prstGeom>
          <a:solidFill>
            <a:srgbClr val="C8A24B"/>
          </a:solidFill>
          <a:ln w="12700">
            <a:solidFill>
              <a:srgbClr val="C8A24B"/>
            </a:solidFill>
            <a:prstDash val="solid"/>
          </a:ln>
        </p:spPr>
        <p:txBody>
          <a:bodyPr/>
          <a:lstStyle/>
          <a:p>
            <a:endParaRPr lang="en-US"/>
          </a:p>
        </p:txBody>
      </p:sp>
      <p:sp>
        <p:nvSpPr>
          <p:cNvPr id="11" name="Text 9"/>
          <p:cNvSpPr/>
          <p:nvPr/>
        </p:nvSpPr>
        <p:spPr>
          <a:xfrm>
            <a:off x="594360" y="278892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1234440" y="2788920"/>
            <a:ext cx="2286000" cy="457200"/>
          </a:xfrm>
          <a:prstGeom prst="rect">
            <a:avLst/>
          </a:prstGeom>
          <a:noFill/>
          <a:ln/>
        </p:spPr>
        <p:txBody>
          <a:bodyPr wrap="square" lIns="0" tIns="0" rIns="0" bIns="0" rtlCol="0" anchor="ctr"/>
          <a:lstStyle/>
          <a:p>
            <a:pPr marL="0" indent="0">
              <a:buNone/>
            </a:pPr>
            <a:r>
              <a:rPr lang="en-US" sz="1400" b="1" kern="0" spc="200" dirty="0">
                <a:solidFill>
                  <a:srgbClr val="2A2218"/>
                </a:solidFill>
                <a:latin typeface="Calibri" pitchFamily="34" charset="0"/>
                <a:ea typeface="Calibri" pitchFamily="34" charset="-122"/>
                <a:cs typeface="Calibri" pitchFamily="34" charset="-120"/>
              </a:rPr>
              <a:t>Router</a:t>
            </a:r>
            <a:endParaRPr lang="en-US" sz="1400" dirty="0"/>
          </a:p>
        </p:txBody>
      </p:sp>
      <p:sp>
        <p:nvSpPr>
          <p:cNvPr id="13" name="Text 11"/>
          <p:cNvSpPr/>
          <p:nvPr/>
        </p:nvSpPr>
        <p:spPr>
          <a:xfrm>
            <a:off x="3566160" y="2788920"/>
            <a:ext cx="8076895" cy="45720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Sees "ask", "Mara" → classifies as DIALOGUE, recommends NPC agent.</a:t>
            </a:r>
            <a:endParaRPr lang="en-US" sz="1300" dirty="0"/>
          </a:p>
        </p:txBody>
      </p:sp>
      <p:sp>
        <p:nvSpPr>
          <p:cNvPr id="14" name="Shape 12"/>
          <p:cNvSpPr/>
          <p:nvPr/>
        </p:nvSpPr>
        <p:spPr>
          <a:xfrm>
            <a:off x="1234440" y="3273552"/>
            <a:ext cx="10408615" cy="0"/>
          </a:xfrm>
          <a:prstGeom prst="line">
            <a:avLst/>
          </a:prstGeom>
          <a:noFill/>
          <a:ln w="6350">
            <a:solidFill>
              <a:srgbClr val="DDD0B0"/>
            </a:solidFill>
            <a:prstDash val="solid"/>
          </a:ln>
        </p:spPr>
        <p:txBody>
          <a:bodyPr/>
          <a:lstStyle/>
          <a:p>
            <a:endParaRPr lang="en-US"/>
          </a:p>
        </p:txBody>
      </p:sp>
      <p:sp>
        <p:nvSpPr>
          <p:cNvPr id="15" name="Shape 13"/>
          <p:cNvSpPr/>
          <p:nvPr/>
        </p:nvSpPr>
        <p:spPr>
          <a:xfrm>
            <a:off x="594360" y="3337560"/>
            <a:ext cx="457200" cy="457200"/>
          </a:xfrm>
          <a:prstGeom prst="ellipse">
            <a:avLst/>
          </a:prstGeom>
          <a:solidFill>
            <a:srgbClr val="C8A24B"/>
          </a:solidFill>
          <a:ln w="12700">
            <a:solidFill>
              <a:srgbClr val="C8A24B"/>
            </a:solidFill>
            <a:prstDash val="solid"/>
          </a:ln>
        </p:spPr>
        <p:txBody>
          <a:bodyPr/>
          <a:lstStyle/>
          <a:p>
            <a:endParaRPr lang="en-US"/>
          </a:p>
        </p:txBody>
      </p:sp>
      <p:sp>
        <p:nvSpPr>
          <p:cNvPr id="16" name="Text 14"/>
          <p:cNvSpPr/>
          <p:nvPr/>
        </p:nvSpPr>
        <p:spPr>
          <a:xfrm>
            <a:off x="594360" y="333756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Georgia" pitchFamily="34" charset="0"/>
                <a:ea typeface="Georgia" pitchFamily="34" charset="-122"/>
                <a:cs typeface="Georgia" pitchFamily="34" charset="-120"/>
              </a:rPr>
              <a:t>3</a:t>
            </a:r>
            <a:endParaRPr lang="en-US" sz="1800" dirty="0"/>
          </a:p>
        </p:txBody>
      </p:sp>
      <p:sp>
        <p:nvSpPr>
          <p:cNvPr id="17" name="Text 15"/>
          <p:cNvSpPr/>
          <p:nvPr/>
        </p:nvSpPr>
        <p:spPr>
          <a:xfrm>
            <a:off x="1234440" y="3337560"/>
            <a:ext cx="2286000" cy="457200"/>
          </a:xfrm>
          <a:prstGeom prst="rect">
            <a:avLst/>
          </a:prstGeom>
          <a:noFill/>
          <a:ln/>
        </p:spPr>
        <p:txBody>
          <a:bodyPr wrap="square" lIns="0" tIns="0" rIns="0" bIns="0" rtlCol="0" anchor="ctr"/>
          <a:lstStyle/>
          <a:p>
            <a:pPr marL="0" indent="0">
              <a:buNone/>
            </a:pPr>
            <a:r>
              <a:rPr lang="en-US" sz="1400" b="1" kern="0" spc="200" dirty="0">
                <a:solidFill>
                  <a:srgbClr val="2A2218"/>
                </a:solidFill>
                <a:latin typeface="Calibri" pitchFamily="34" charset="0"/>
                <a:ea typeface="Calibri" pitchFamily="34" charset="-122"/>
                <a:cs typeface="Calibri" pitchFamily="34" charset="-120"/>
              </a:rPr>
              <a:t>Retrieval</a:t>
            </a:r>
            <a:endParaRPr lang="en-US" sz="1400" dirty="0"/>
          </a:p>
        </p:txBody>
      </p:sp>
      <p:sp>
        <p:nvSpPr>
          <p:cNvPr id="18" name="Text 16"/>
          <p:cNvSpPr/>
          <p:nvPr/>
        </p:nvSpPr>
        <p:spPr>
          <a:xfrm>
            <a:off x="3566160" y="3337560"/>
            <a:ext cx="8076895" cy="45720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Builds an NPCAgentInput for Mara — name, role, personality, goals, scene.</a:t>
            </a:r>
            <a:endParaRPr lang="en-US" sz="1300" dirty="0"/>
          </a:p>
        </p:txBody>
      </p:sp>
      <p:sp>
        <p:nvSpPr>
          <p:cNvPr id="19" name="Shape 17"/>
          <p:cNvSpPr/>
          <p:nvPr/>
        </p:nvSpPr>
        <p:spPr>
          <a:xfrm>
            <a:off x="1234440" y="3822192"/>
            <a:ext cx="10408615" cy="0"/>
          </a:xfrm>
          <a:prstGeom prst="line">
            <a:avLst/>
          </a:prstGeom>
          <a:noFill/>
          <a:ln w="6350">
            <a:solidFill>
              <a:srgbClr val="DDD0B0"/>
            </a:solidFill>
            <a:prstDash val="solid"/>
          </a:ln>
        </p:spPr>
        <p:txBody>
          <a:bodyPr/>
          <a:lstStyle/>
          <a:p>
            <a:endParaRPr lang="en-US"/>
          </a:p>
        </p:txBody>
      </p:sp>
      <p:sp>
        <p:nvSpPr>
          <p:cNvPr id="20" name="Shape 18"/>
          <p:cNvSpPr/>
          <p:nvPr/>
        </p:nvSpPr>
        <p:spPr>
          <a:xfrm>
            <a:off x="594360" y="3886200"/>
            <a:ext cx="457200" cy="457200"/>
          </a:xfrm>
          <a:prstGeom prst="ellipse">
            <a:avLst/>
          </a:prstGeom>
          <a:solidFill>
            <a:srgbClr val="C8A24B"/>
          </a:solidFill>
          <a:ln w="12700">
            <a:solidFill>
              <a:srgbClr val="C8A24B"/>
            </a:solidFill>
            <a:prstDash val="solid"/>
          </a:ln>
        </p:spPr>
        <p:txBody>
          <a:bodyPr/>
          <a:lstStyle/>
          <a:p>
            <a:endParaRPr lang="en-US"/>
          </a:p>
        </p:txBody>
      </p:sp>
      <p:sp>
        <p:nvSpPr>
          <p:cNvPr id="21" name="Text 19"/>
          <p:cNvSpPr/>
          <p:nvPr/>
        </p:nvSpPr>
        <p:spPr>
          <a:xfrm>
            <a:off x="594360" y="388620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Georgia" pitchFamily="34" charset="0"/>
                <a:ea typeface="Georgia" pitchFamily="34" charset="-122"/>
                <a:cs typeface="Georgia" pitchFamily="34" charset="-120"/>
              </a:rPr>
              <a:t>4</a:t>
            </a:r>
            <a:endParaRPr lang="en-US" sz="1800" dirty="0"/>
          </a:p>
        </p:txBody>
      </p:sp>
      <p:sp>
        <p:nvSpPr>
          <p:cNvPr id="22" name="Text 20"/>
          <p:cNvSpPr/>
          <p:nvPr/>
        </p:nvSpPr>
        <p:spPr>
          <a:xfrm>
            <a:off x="1234440" y="3886200"/>
            <a:ext cx="2286000" cy="457200"/>
          </a:xfrm>
          <a:prstGeom prst="rect">
            <a:avLst/>
          </a:prstGeom>
          <a:noFill/>
          <a:ln/>
        </p:spPr>
        <p:txBody>
          <a:bodyPr wrap="square" lIns="0" tIns="0" rIns="0" bIns="0" rtlCol="0" anchor="ctr"/>
          <a:lstStyle/>
          <a:p>
            <a:pPr marL="0" indent="0">
              <a:buNone/>
            </a:pPr>
            <a:r>
              <a:rPr lang="en-US" sz="1400" b="1" kern="0" spc="200" dirty="0">
                <a:solidFill>
                  <a:srgbClr val="2A2218"/>
                </a:solidFill>
                <a:latin typeface="Calibri" pitchFamily="34" charset="0"/>
                <a:ea typeface="Calibri" pitchFamily="34" charset="-122"/>
                <a:cs typeface="Calibri" pitchFamily="34" charset="-120"/>
              </a:rPr>
              <a:t>NPC Agent</a:t>
            </a:r>
            <a:endParaRPr lang="en-US" sz="1400" dirty="0"/>
          </a:p>
        </p:txBody>
      </p:sp>
      <p:sp>
        <p:nvSpPr>
          <p:cNvPr id="23" name="Text 21"/>
          <p:cNvSpPr/>
          <p:nvPr/>
        </p:nvSpPr>
        <p:spPr>
          <a:xfrm>
            <a:off x="3566160" y="3886200"/>
            <a:ext cx="8076895" cy="45720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LLM call. Returns Mara's speech, emotional tone, intent, social consequences.</a:t>
            </a:r>
            <a:endParaRPr lang="en-US" sz="1300" dirty="0"/>
          </a:p>
        </p:txBody>
      </p:sp>
      <p:sp>
        <p:nvSpPr>
          <p:cNvPr id="24" name="Shape 22"/>
          <p:cNvSpPr/>
          <p:nvPr/>
        </p:nvSpPr>
        <p:spPr>
          <a:xfrm>
            <a:off x="1234440" y="4370832"/>
            <a:ext cx="10408615" cy="0"/>
          </a:xfrm>
          <a:prstGeom prst="line">
            <a:avLst/>
          </a:prstGeom>
          <a:noFill/>
          <a:ln w="6350">
            <a:solidFill>
              <a:srgbClr val="DDD0B0"/>
            </a:solidFill>
            <a:prstDash val="solid"/>
          </a:ln>
        </p:spPr>
        <p:txBody>
          <a:bodyPr/>
          <a:lstStyle/>
          <a:p>
            <a:endParaRPr lang="en-US"/>
          </a:p>
        </p:txBody>
      </p:sp>
      <p:sp>
        <p:nvSpPr>
          <p:cNvPr id="25" name="Shape 23"/>
          <p:cNvSpPr/>
          <p:nvPr/>
        </p:nvSpPr>
        <p:spPr>
          <a:xfrm>
            <a:off x="594360" y="4434840"/>
            <a:ext cx="457200" cy="457200"/>
          </a:xfrm>
          <a:prstGeom prst="ellipse">
            <a:avLst/>
          </a:prstGeom>
          <a:solidFill>
            <a:srgbClr val="C8A24B"/>
          </a:solidFill>
          <a:ln w="12700">
            <a:solidFill>
              <a:srgbClr val="C8A24B"/>
            </a:solidFill>
            <a:prstDash val="solid"/>
          </a:ln>
        </p:spPr>
        <p:txBody>
          <a:bodyPr/>
          <a:lstStyle/>
          <a:p>
            <a:endParaRPr lang="en-US"/>
          </a:p>
        </p:txBody>
      </p:sp>
      <p:sp>
        <p:nvSpPr>
          <p:cNvPr id="26" name="Text 24"/>
          <p:cNvSpPr/>
          <p:nvPr/>
        </p:nvSpPr>
        <p:spPr>
          <a:xfrm>
            <a:off x="594360" y="443484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Georgia" pitchFamily="34" charset="0"/>
                <a:ea typeface="Georgia" pitchFamily="34" charset="-122"/>
                <a:cs typeface="Georgia" pitchFamily="34" charset="-120"/>
              </a:rPr>
              <a:t>5</a:t>
            </a:r>
            <a:endParaRPr lang="en-US" sz="1800" dirty="0"/>
          </a:p>
        </p:txBody>
      </p:sp>
      <p:sp>
        <p:nvSpPr>
          <p:cNvPr id="27" name="Text 25"/>
          <p:cNvSpPr/>
          <p:nvPr/>
        </p:nvSpPr>
        <p:spPr>
          <a:xfrm>
            <a:off x="1234440" y="4434840"/>
            <a:ext cx="2286000" cy="457200"/>
          </a:xfrm>
          <a:prstGeom prst="rect">
            <a:avLst/>
          </a:prstGeom>
          <a:noFill/>
          <a:ln/>
        </p:spPr>
        <p:txBody>
          <a:bodyPr wrap="square" lIns="0" tIns="0" rIns="0" bIns="0" rtlCol="0" anchor="ctr"/>
          <a:lstStyle/>
          <a:p>
            <a:pPr marL="0" indent="0">
              <a:buNone/>
            </a:pPr>
            <a:r>
              <a:rPr lang="en-US" sz="1400" b="1" kern="0" spc="200" dirty="0">
                <a:solidFill>
                  <a:srgbClr val="2A2218"/>
                </a:solidFill>
                <a:latin typeface="Calibri" pitchFamily="34" charset="0"/>
                <a:ea typeface="Calibri" pitchFamily="34" charset="-122"/>
                <a:cs typeface="Calibri" pitchFamily="34" charset="-120"/>
              </a:rPr>
              <a:t>Critic</a:t>
            </a:r>
            <a:endParaRPr lang="en-US" sz="1400" dirty="0"/>
          </a:p>
        </p:txBody>
      </p:sp>
      <p:sp>
        <p:nvSpPr>
          <p:cNvPr id="28" name="Text 26"/>
          <p:cNvSpPr/>
          <p:nvPr/>
        </p:nvSpPr>
        <p:spPr>
          <a:xfrm>
            <a:off x="3566160" y="4434840"/>
            <a:ext cx="8076895" cy="45720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Validates the proposal — no contradictions, no impossible knowledge.</a:t>
            </a:r>
            <a:endParaRPr lang="en-US" sz="1300" dirty="0"/>
          </a:p>
        </p:txBody>
      </p:sp>
      <p:sp>
        <p:nvSpPr>
          <p:cNvPr id="29" name="Shape 27"/>
          <p:cNvSpPr/>
          <p:nvPr/>
        </p:nvSpPr>
        <p:spPr>
          <a:xfrm>
            <a:off x="1234440" y="4919472"/>
            <a:ext cx="10408615" cy="0"/>
          </a:xfrm>
          <a:prstGeom prst="line">
            <a:avLst/>
          </a:prstGeom>
          <a:noFill/>
          <a:ln w="6350">
            <a:solidFill>
              <a:srgbClr val="DDD0B0"/>
            </a:solidFill>
            <a:prstDash val="solid"/>
          </a:ln>
        </p:spPr>
        <p:txBody>
          <a:bodyPr/>
          <a:lstStyle/>
          <a:p>
            <a:endParaRPr lang="en-US"/>
          </a:p>
        </p:txBody>
      </p:sp>
      <p:sp>
        <p:nvSpPr>
          <p:cNvPr id="30" name="Shape 28"/>
          <p:cNvSpPr/>
          <p:nvPr/>
        </p:nvSpPr>
        <p:spPr>
          <a:xfrm>
            <a:off x="594360" y="4983480"/>
            <a:ext cx="457200" cy="457200"/>
          </a:xfrm>
          <a:prstGeom prst="ellipse">
            <a:avLst/>
          </a:prstGeom>
          <a:solidFill>
            <a:srgbClr val="C8A24B"/>
          </a:solidFill>
          <a:ln w="12700">
            <a:solidFill>
              <a:srgbClr val="C8A24B"/>
            </a:solidFill>
            <a:prstDash val="solid"/>
          </a:ln>
        </p:spPr>
        <p:txBody>
          <a:bodyPr/>
          <a:lstStyle/>
          <a:p>
            <a:endParaRPr lang="en-US"/>
          </a:p>
        </p:txBody>
      </p:sp>
      <p:sp>
        <p:nvSpPr>
          <p:cNvPr id="31" name="Text 29"/>
          <p:cNvSpPr/>
          <p:nvPr/>
        </p:nvSpPr>
        <p:spPr>
          <a:xfrm>
            <a:off x="594360" y="498348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Georgia" pitchFamily="34" charset="0"/>
                <a:ea typeface="Georgia" pitchFamily="34" charset="-122"/>
                <a:cs typeface="Georgia" pitchFamily="34" charset="-120"/>
              </a:rPr>
              <a:t>6</a:t>
            </a:r>
            <a:endParaRPr lang="en-US" sz="1800" dirty="0"/>
          </a:p>
        </p:txBody>
      </p:sp>
      <p:sp>
        <p:nvSpPr>
          <p:cNvPr id="32" name="Text 30"/>
          <p:cNvSpPr/>
          <p:nvPr/>
        </p:nvSpPr>
        <p:spPr>
          <a:xfrm>
            <a:off x="1234440" y="4983480"/>
            <a:ext cx="2286000" cy="457200"/>
          </a:xfrm>
          <a:prstGeom prst="rect">
            <a:avLst/>
          </a:prstGeom>
          <a:noFill/>
          <a:ln/>
        </p:spPr>
        <p:txBody>
          <a:bodyPr wrap="square" lIns="0" tIns="0" rIns="0" bIns="0" rtlCol="0" anchor="ctr"/>
          <a:lstStyle/>
          <a:p>
            <a:pPr marL="0" indent="0">
              <a:buNone/>
            </a:pPr>
            <a:r>
              <a:rPr lang="en-US" sz="1400" b="1" kern="0" spc="200" dirty="0">
                <a:solidFill>
                  <a:srgbClr val="2A2218"/>
                </a:solidFill>
                <a:latin typeface="Calibri" pitchFamily="34" charset="0"/>
                <a:ea typeface="Calibri" pitchFamily="34" charset="-122"/>
                <a:cs typeface="Calibri" pitchFamily="34" charset="-120"/>
              </a:rPr>
              <a:t>State Updater</a:t>
            </a:r>
            <a:endParaRPr lang="en-US" sz="1400" dirty="0"/>
          </a:p>
        </p:txBody>
      </p:sp>
      <p:sp>
        <p:nvSpPr>
          <p:cNvPr id="33" name="Text 31"/>
          <p:cNvSpPr/>
          <p:nvPr/>
        </p:nvSpPr>
        <p:spPr>
          <a:xfrm>
            <a:off x="3566160" y="4983480"/>
            <a:ext cx="8076895" cy="45720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Commits the approved disposition shift and any quest hooks revealed.</a:t>
            </a:r>
            <a:endParaRPr lang="en-US" sz="1300" dirty="0"/>
          </a:p>
        </p:txBody>
      </p:sp>
      <p:sp>
        <p:nvSpPr>
          <p:cNvPr id="34" name="Shape 32"/>
          <p:cNvSpPr/>
          <p:nvPr/>
        </p:nvSpPr>
        <p:spPr>
          <a:xfrm>
            <a:off x="1234440" y="5468112"/>
            <a:ext cx="10408615" cy="0"/>
          </a:xfrm>
          <a:prstGeom prst="line">
            <a:avLst/>
          </a:prstGeom>
          <a:noFill/>
          <a:ln w="6350">
            <a:solidFill>
              <a:srgbClr val="DDD0B0"/>
            </a:solidFill>
            <a:prstDash val="solid"/>
          </a:ln>
        </p:spPr>
        <p:txBody>
          <a:bodyPr/>
          <a:lstStyle/>
          <a:p>
            <a:endParaRPr lang="en-US"/>
          </a:p>
        </p:txBody>
      </p:sp>
      <p:sp>
        <p:nvSpPr>
          <p:cNvPr id="35" name="Shape 33"/>
          <p:cNvSpPr/>
          <p:nvPr/>
        </p:nvSpPr>
        <p:spPr>
          <a:xfrm>
            <a:off x="594360" y="5532120"/>
            <a:ext cx="457200" cy="457200"/>
          </a:xfrm>
          <a:prstGeom prst="ellipse">
            <a:avLst/>
          </a:prstGeom>
          <a:solidFill>
            <a:srgbClr val="C8A24B"/>
          </a:solidFill>
          <a:ln w="12700">
            <a:solidFill>
              <a:srgbClr val="C8A24B"/>
            </a:solidFill>
            <a:prstDash val="solid"/>
          </a:ln>
        </p:spPr>
        <p:txBody>
          <a:bodyPr/>
          <a:lstStyle/>
          <a:p>
            <a:endParaRPr lang="en-US"/>
          </a:p>
        </p:txBody>
      </p:sp>
      <p:sp>
        <p:nvSpPr>
          <p:cNvPr id="36" name="Text 34"/>
          <p:cNvSpPr/>
          <p:nvPr/>
        </p:nvSpPr>
        <p:spPr>
          <a:xfrm>
            <a:off x="594360" y="5532120"/>
            <a:ext cx="457200" cy="457200"/>
          </a:xfrm>
          <a:prstGeom prst="rect">
            <a:avLst/>
          </a:prstGeom>
          <a:noFill/>
          <a:ln/>
        </p:spPr>
        <p:txBody>
          <a:bodyPr wrap="square" lIns="0" tIns="0" rIns="0" bIns="0" rtlCol="0" anchor="ctr"/>
          <a:lstStyle/>
          <a:p>
            <a:pPr marL="0" indent="0" algn="ctr">
              <a:buNone/>
            </a:pPr>
            <a:r>
              <a:rPr lang="en-US" sz="1800" b="1" dirty="0">
                <a:solidFill>
                  <a:srgbClr val="1A1410"/>
                </a:solidFill>
                <a:latin typeface="Georgia" pitchFamily="34" charset="0"/>
                <a:ea typeface="Georgia" pitchFamily="34" charset="-122"/>
                <a:cs typeface="Georgia" pitchFamily="34" charset="-120"/>
              </a:rPr>
              <a:t>7</a:t>
            </a:r>
            <a:endParaRPr lang="en-US" sz="1800" dirty="0"/>
          </a:p>
        </p:txBody>
      </p:sp>
      <p:sp>
        <p:nvSpPr>
          <p:cNvPr id="37" name="Text 35"/>
          <p:cNvSpPr/>
          <p:nvPr/>
        </p:nvSpPr>
        <p:spPr>
          <a:xfrm>
            <a:off x="1234440" y="5532120"/>
            <a:ext cx="2286000" cy="457200"/>
          </a:xfrm>
          <a:prstGeom prst="rect">
            <a:avLst/>
          </a:prstGeom>
          <a:noFill/>
          <a:ln/>
        </p:spPr>
        <p:txBody>
          <a:bodyPr wrap="square" lIns="0" tIns="0" rIns="0" bIns="0" rtlCol="0" anchor="ctr"/>
          <a:lstStyle/>
          <a:p>
            <a:pPr marL="0" indent="0">
              <a:buNone/>
            </a:pPr>
            <a:r>
              <a:rPr lang="en-US" sz="1400" b="1" kern="0" spc="200" dirty="0">
                <a:solidFill>
                  <a:srgbClr val="2A2218"/>
                </a:solidFill>
                <a:latin typeface="Calibri" pitchFamily="34" charset="0"/>
                <a:ea typeface="Calibri" pitchFamily="34" charset="-122"/>
                <a:cs typeface="Calibri" pitchFamily="34" charset="-120"/>
              </a:rPr>
              <a:t>Narrator (planned)</a:t>
            </a:r>
            <a:endParaRPr lang="en-US" sz="1400" dirty="0"/>
          </a:p>
        </p:txBody>
      </p:sp>
      <p:sp>
        <p:nvSpPr>
          <p:cNvPr id="38" name="Text 36"/>
          <p:cNvSpPr/>
          <p:nvPr/>
        </p:nvSpPr>
        <p:spPr>
          <a:xfrm>
            <a:off x="3566160" y="5532120"/>
            <a:ext cx="8076895" cy="45720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Wraps the outcome in immersive prose for the player.</a:t>
            </a:r>
            <a:endParaRPr lang="en-US" sz="1300" dirty="0"/>
          </a:p>
        </p:txBody>
      </p:sp>
      <p:sp>
        <p:nvSpPr>
          <p:cNvPr id="39" name="Text 37"/>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40" name="Text 38"/>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THE DEMO WORLD</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Oakshade Village, on the edge of the Hollow Woods.</a:t>
            </a:r>
            <a:endParaRPr lang="en-US" sz="3200" dirty="0"/>
          </a:p>
        </p:txBody>
      </p:sp>
      <p:sp>
        <p:nvSpPr>
          <p:cNvPr id="5" name="Shape 3"/>
          <p:cNvSpPr/>
          <p:nvPr/>
        </p:nvSpPr>
        <p:spPr>
          <a:xfrm>
            <a:off x="548640" y="2194560"/>
            <a:ext cx="4937760" cy="3931920"/>
          </a:xfrm>
          <a:prstGeom prst="rect">
            <a:avLst/>
          </a:prstGeom>
          <a:solidFill>
            <a:srgbClr val="241B14"/>
          </a:solidFill>
          <a:ln w="12700">
            <a:solidFill>
              <a:srgbClr val="C8A24B"/>
            </a:solidFill>
            <a:prstDash val="solid"/>
          </a:ln>
        </p:spPr>
        <p:txBody>
          <a:bodyPr/>
          <a:lstStyle/>
          <a:p>
            <a:endParaRPr lang="en-US"/>
          </a:p>
        </p:txBody>
      </p:sp>
      <p:sp>
        <p:nvSpPr>
          <p:cNvPr id="6" name="Text 4"/>
          <p:cNvSpPr/>
          <p:nvPr/>
        </p:nvSpPr>
        <p:spPr>
          <a:xfrm>
            <a:off x="822960" y="2423160"/>
            <a:ext cx="4389120" cy="320040"/>
          </a:xfrm>
          <a:prstGeom prst="rect">
            <a:avLst/>
          </a:prstGeom>
          <a:noFill/>
          <a:ln/>
        </p:spPr>
        <p:txBody>
          <a:bodyPr wrap="square" lIns="0" tIns="0" rIns="0" bIns="0" rtlCol="0" anchor="ctr"/>
          <a:lstStyle/>
          <a:p>
            <a:pPr marL="0" indent="0">
              <a:buNone/>
            </a:pPr>
            <a:r>
              <a:rPr lang="en-US" sz="1100" b="1" kern="0" spc="500" dirty="0">
                <a:solidFill>
                  <a:srgbClr val="C8A24B"/>
                </a:solidFill>
                <a:latin typeface="Calibri" pitchFamily="34" charset="0"/>
                <a:ea typeface="Calibri" pitchFamily="34" charset="-122"/>
                <a:cs typeface="Calibri" pitchFamily="34" charset="-120"/>
              </a:rPr>
              <a:t>THE SHATTERED VALE</a:t>
            </a:r>
            <a:endParaRPr lang="en-US" sz="1100" dirty="0"/>
          </a:p>
        </p:txBody>
      </p:sp>
      <p:sp>
        <p:nvSpPr>
          <p:cNvPr id="7" name="Text 5"/>
          <p:cNvSpPr/>
          <p:nvPr/>
        </p:nvSpPr>
        <p:spPr>
          <a:xfrm>
            <a:off x="822960" y="2834640"/>
            <a:ext cx="4389120" cy="1280160"/>
          </a:xfrm>
          <a:prstGeom prst="rect">
            <a:avLst/>
          </a:prstGeom>
          <a:noFill/>
          <a:ln/>
        </p:spPr>
        <p:txBody>
          <a:bodyPr wrap="square" lIns="0" tIns="0" rIns="0" bIns="0" rtlCol="0" anchor="ctr"/>
          <a:lstStyle/>
          <a:p>
            <a:pPr marL="0" indent="0">
              <a:buNone/>
            </a:pPr>
            <a:r>
              <a:rPr lang="en-US" sz="1600" i="1" dirty="0">
                <a:solidFill>
                  <a:srgbClr val="F1E6CF"/>
                </a:solidFill>
                <a:latin typeface="Georgia" pitchFamily="34" charset="0"/>
                <a:ea typeface="Georgia" pitchFamily="34" charset="-122"/>
                <a:cs typeface="Georgia" pitchFamily="34" charset="-120"/>
              </a:rPr>
              <a:t>A patchwork of forest-edge villages and old ruined holdfasts left by a fallen kingdom. Travel is slow. Old stone ruins hum with restless things.</a:t>
            </a:r>
            <a:endParaRPr lang="en-US" sz="1600" dirty="0"/>
          </a:p>
        </p:txBody>
      </p:sp>
      <p:sp>
        <p:nvSpPr>
          <p:cNvPr id="8" name="Text 6"/>
          <p:cNvSpPr/>
          <p:nvPr/>
        </p:nvSpPr>
        <p:spPr>
          <a:xfrm>
            <a:off x="822960" y="4297680"/>
            <a:ext cx="4389120" cy="274320"/>
          </a:xfrm>
          <a:prstGeom prst="rect">
            <a:avLst/>
          </a:prstGeom>
          <a:noFill/>
          <a:ln/>
        </p:spPr>
        <p:txBody>
          <a:bodyPr wrap="square" lIns="0" tIns="0" rIns="0" bIns="0" rtlCol="0" anchor="ctr"/>
          <a:lstStyle/>
          <a:p>
            <a:pPr marL="0" indent="0">
              <a:buNone/>
            </a:pPr>
            <a:r>
              <a:rPr lang="en-US" sz="1100" b="1" kern="0" spc="500" dirty="0">
                <a:solidFill>
                  <a:srgbClr val="C8A24B"/>
                </a:solidFill>
                <a:latin typeface="Calibri" pitchFamily="34" charset="0"/>
                <a:ea typeface="Calibri" pitchFamily="34" charset="-122"/>
                <a:cs typeface="Calibri" pitchFamily="34" charset="-120"/>
              </a:rPr>
              <a:t>THE STARTING QUEST</a:t>
            </a:r>
            <a:endParaRPr lang="en-US" sz="1100" dirty="0"/>
          </a:p>
        </p:txBody>
      </p:sp>
      <p:sp>
        <p:nvSpPr>
          <p:cNvPr id="9" name="Text 7"/>
          <p:cNvSpPr/>
          <p:nvPr/>
        </p:nvSpPr>
        <p:spPr>
          <a:xfrm>
            <a:off x="822960" y="4617720"/>
            <a:ext cx="4389120" cy="411480"/>
          </a:xfrm>
          <a:prstGeom prst="rect">
            <a:avLst/>
          </a:prstGeom>
          <a:noFill/>
          <a:ln/>
        </p:spPr>
        <p:txBody>
          <a:bodyPr wrap="square" lIns="0" tIns="0" rIns="0" bIns="0" rtlCol="0" anchor="ctr"/>
          <a:lstStyle/>
          <a:p>
            <a:pPr marL="0" indent="0">
              <a:buNone/>
            </a:pPr>
            <a:r>
              <a:rPr lang="en-US" sz="2200" b="1" dirty="0">
                <a:solidFill>
                  <a:srgbClr val="F1E6CF"/>
                </a:solidFill>
                <a:latin typeface="Georgia" pitchFamily="34" charset="0"/>
                <a:ea typeface="Georgia" pitchFamily="34" charset="-122"/>
                <a:cs typeface="Georgia" pitchFamily="34" charset="-120"/>
              </a:rPr>
              <a:t>The Missing Scout</a:t>
            </a:r>
            <a:endParaRPr lang="en-US" sz="2200" dirty="0"/>
          </a:p>
        </p:txBody>
      </p:sp>
      <p:sp>
        <p:nvSpPr>
          <p:cNvPr id="10" name="Text 8"/>
          <p:cNvSpPr/>
          <p:nvPr/>
        </p:nvSpPr>
        <p:spPr>
          <a:xfrm>
            <a:off x="822960" y="5074920"/>
            <a:ext cx="4389120" cy="1188720"/>
          </a:xfrm>
          <a:prstGeom prst="rect">
            <a:avLst/>
          </a:prstGeom>
          <a:noFill/>
          <a:ln/>
        </p:spPr>
        <p:txBody>
          <a:bodyPr wrap="square" lIns="0" tIns="0" rIns="0" bIns="0" rtlCol="0" anchor="ctr"/>
          <a:lstStyle/>
          <a:p>
            <a:pPr marL="0" indent="0">
              <a:buNone/>
            </a:pPr>
            <a:r>
              <a:rPr lang="en-US" sz="1300" i="1" dirty="0">
                <a:solidFill>
                  <a:srgbClr val="B9A985"/>
                </a:solidFill>
                <a:latin typeface="Calibri" pitchFamily="34" charset="0"/>
                <a:ea typeface="Calibri" pitchFamily="34" charset="-122"/>
                <a:cs typeface="Calibri" pitchFamily="34" charset="-120"/>
              </a:rPr>
              <a:t>The Village Council sent a scout to investigate the Emberwood Ruins. He hasn't returned. The Council needs an outsider — someone deniable.</a:t>
            </a:r>
            <a:endParaRPr lang="en-US" sz="1300" dirty="0"/>
          </a:p>
        </p:txBody>
      </p:sp>
      <p:sp>
        <p:nvSpPr>
          <p:cNvPr id="11" name="Text 9"/>
          <p:cNvSpPr/>
          <p:nvPr/>
        </p:nvSpPr>
        <p:spPr>
          <a:xfrm>
            <a:off x="5852160" y="2194560"/>
            <a:ext cx="5790895" cy="320040"/>
          </a:xfrm>
          <a:prstGeom prst="rect">
            <a:avLst/>
          </a:prstGeom>
          <a:noFill/>
          <a:ln/>
        </p:spPr>
        <p:txBody>
          <a:bodyPr wrap="square" lIns="0" tIns="0" rIns="0" bIns="0" rtlCol="0" anchor="ctr"/>
          <a:lstStyle/>
          <a:p>
            <a:pPr marL="0" indent="0">
              <a:buNone/>
            </a:pPr>
            <a:r>
              <a:rPr lang="en-US" sz="1100" b="1" kern="0" spc="500" dirty="0">
                <a:solidFill>
                  <a:srgbClr val="9B2A3A"/>
                </a:solidFill>
                <a:latin typeface="Calibri" pitchFamily="34" charset="0"/>
                <a:ea typeface="Calibri" pitchFamily="34" charset="-122"/>
                <a:cs typeface="Calibri" pitchFamily="34" charset="-120"/>
              </a:rPr>
              <a:t>THREE BRANCHES, ONE QUEST</a:t>
            </a:r>
            <a:endParaRPr lang="en-US" sz="1100" dirty="0"/>
          </a:p>
        </p:txBody>
      </p:sp>
      <p:sp>
        <p:nvSpPr>
          <p:cNvPr id="12" name="Shape 10"/>
          <p:cNvSpPr/>
          <p:nvPr/>
        </p:nvSpPr>
        <p:spPr>
          <a:xfrm>
            <a:off x="5852160" y="2651760"/>
            <a:ext cx="5790895" cy="1005840"/>
          </a:xfrm>
          <a:prstGeom prst="rect">
            <a:avLst/>
          </a:prstGeom>
          <a:solidFill>
            <a:srgbClr val="FFFFFF"/>
          </a:solidFill>
          <a:ln w="9525">
            <a:solidFill>
              <a:srgbClr val="DDD0B0"/>
            </a:solidFill>
            <a:prstDash val="solid"/>
          </a:ln>
        </p:spPr>
        <p:txBody>
          <a:bodyPr/>
          <a:lstStyle/>
          <a:p>
            <a:endParaRPr lang="en-US"/>
          </a:p>
        </p:txBody>
      </p:sp>
      <p:sp>
        <p:nvSpPr>
          <p:cNvPr id="13" name="Shape 11"/>
          <p:cNvSpPr/>
          <p:nvPr/>
        </p:nvSpPr>
        <p:spPr>
          <a:xfrm>
            <a:off x="5852160" y="2651760"/>
            <a:ext cx="73152" cy="1005840"/>
          </a:xfrm>
          <a:prstGeom prst="rect">
            <a:avLst/>
          </a:prstGeom>
          <a:solidFill>
            <a:srgbClr val="9B2A3A"/>
          </a:solidFill>
          <a:ln w="12700">
            <a:solidFill>
              <a:srgbClr val="9B2A3A"/>
            </a:solidFill>
            <a:prstDash val="solid"/>
          </a:ln>
        </p:spPr>
        <p:txBody>
          <a:bodyPr/>
          <a:lstStyle/>
          <a:p>
            <a:endParaRPr lang="en-US"/>
          </a:p>
        </p:txBody>
      </p:sp>
      <p:sp>
        <p:nvSpPr>
          <p:cNvPr id="14" name="Text 12"/>
          <p:cNvSpPr/>
          <p:nvPr/>
        </p:nvSpPr>
        <p:spPr>
          <a:xfrm>
            <a:off x="6080760" y="2788920"/>
            <a:ext cx="5333695" cy="365760"/>
          </a:xfrm>
          <a:prstGeom prst="rect">
            <a:avLst/>
          </a:prstGeom>
          <a:noFill/>
          <a:ln/>
        </p:spPr>
        <p:txBody>
          <a:bodyPr wrap="square" lIns="0" tIns="0" rIns="0" bIns="0" rtlCol="0" anchor="ctr"/>
          <a:lstStyle/>
          <a:p>
            <a:pPr marL="0" indent="0">
              <a:buNone/>
            </a:pPr>
            <a:r>
              <a:rPr lang="en-US" sz="1700" b="1" dirty="0">
                <a:solidFill>
                  <a:srgbClr val="2A2218"/>
                </a:solidFill>
                <a:latin typeface="Georgia" pitchFamily="34" charset="0"/>
                <a:ea typeface="Georgia" pitchFamily="34" charset="-122"/>
                <a:cs typeface="Georgia" pitchFamily="34" charset="-120"/>
              </a:rPr>
              <a:t>Council path</a:t>
            </a:r>
            <a:endParaRPr lang="en-US" sz="1700" dirty="0"/>
          </a:p>
        </p:txBody>
      </p:sp>
      <p:sp>
        <p:nvSpPr>
          <p:cNvPr id="15" name="Text 13"/>
          <p:cNvSpPr/>
          <p:nvPr/>
        </p:nvSpPr>
        <p:spPr>
          <a:xfrm>
            <a:off x="6080760" y="3154680"/>
            <a:ext cx="5333695" cy="457200"/>
          </a:xfrm>
          <a:prstGeom prst="rect">
            <a:avLst/>
          </a:prstGeom>
          <a:noFill/>
          <a:ln/>
        </p:spPr>
        <p:txBody>
          <a:bodyPr wrap="square" lIns="0" tIns="0" rIns="0" bIns="0" rtlCol="0" anchor="ctr"/>
          <a:lstStyle/>
          <a:p>
            <a:pPr marL="0" indent="0">
              <a:buNone/>
            </a:pPr>
            <a:r>
              <a:rPr lang="en-US" sz="1200" i="1" dirty="0">
                <a:solidFill>
                  <a:srgbClr val="2A2218"/>
                </a:solidFill>
                <a:latin typeface="Calibri" pitchFamily="34" charset="0"/>
                <a:ea typeface="Calibri" pitchFamily="34" charset="-122"/>
                <a:cs typeface="Calibri" pitchFamily="34" charset="-120"/>
              </a:rPr>
              <a:t>Public, sanctioned. Village support. No relics.</a:t>
            </a:r>
            <a:endParaRPr lang="en-US" sz="1200" dirty="0"/>
          </a:p>
        </p:txBody>
      </p:sp>
      <p:sp>
        <p:nvSpPr>
          <p:cNvPr id="16" name="Shape 14"/>
          <p:cNvSpPr/>
          <p:nvPr/>
        </p:nvSpPr>
        <p:spPr>
          <a:xfrm>
            <a:off x="5852160" y="3886200"/>
            <a:ext cx="5790895" cy="1005840"/>
          </a:xfrm>
          <a:prstGeom prst="rect">
            <a:avLst/>
          </a:prstGeom>
          <a:solidFill>
            <a:srgbClr val="FFFFFF"/>
          </a:solidFill>
          <a:ln w="9525">
            <a:solidFill>
              <a:srgbClr val="DDD0B0"/>
            </a:solidFill>
            <a:prstDash val="solid"/>
          </a:ln>
        </p:spPr>
        <p:txBody>
          <a:bodyPr/>
          <a:lstStyle/>
          <a:p>
            <a:endParaRPr lang="en-US"/>
          </a:p>
        </p:txBody>
      </p:sp>
      <p:sp>
        <p:nvSpPr>
          <p:cNvPr id="17" name="Shape 15"/>
          <p:cNvSpPr/>
          <p:nvPr/>
        </p:nvSpPr>
        <p:spPr>
          <a:xfrm>
            <a:off x="5852160" y="3886200"/>
            <a:ext cx="73152" cy="1005840"/>
          </a:xfrm>
          <a:prstGeom prst="rect">
            <a:avLst/>
          </a:prstGeom>
          <a:solidFill>
            <a:srgbClr val="9B2A3A"/>
          </a:solidFill>
          <a:ln w="12700">
            <a:solidFill>
              <a:srgbClr val="9B2A3A"/>
            </a:solidFill>
            <a:prstDash val="solid"/>
          </a:ln>
        </p:spPr>
        <p:txBody>
          <a:bodyPr/>
          <a:lstStyle/>
          <a:p>
            <a:endParaRPr lang="en-US"/>
          </a:p>
        </p:txBody>
      </p:sp>
      <p:sp>
        <p:nvSpPr>
          <p:cNvPr id="18" name="Text 16"/>
          <p:cNvSpPr/>
          <p:nvPr/>
        </p:nvSpPr>
        <p:spPr>
          <a:xfrm>
            <a:off x="6080760" y="4023360"/>
            <a:ext cx="5333695" cy="365760"/>
          </a:xfrm>
          <a:prstGeom prst="rect">
            <a:avLst/>
          </a:prstGeom>
          <a:noFill/>
          <a:ln/>
        </p:spPr>
        <p:txBody>
          <a:bodyPr wrap="square" lIns="0" tIns="0" rIns="0" bIns="0" rtlCol="0" anchor="ctr"/>
          <a:lstStyle/>
          <a:p>
            <a:pPr marL="0" indent="0">
              <a:buNone/>
            </a:pPr>
            <a:r>
              <a:rPr lang="en-US" sz="1700" b="1" dirty="0">
                <a:solidFill>
                  <a:srgbClr val="2A2218"/>
                </a:solidFill>
                <a:latin typeface="Georgia" pitchFamily="34" charset="0"/>
                <a:ea typeface="Georgia" pitchFamily="34" charset="-122"/>
                <a:cs typeface="Georgia" pitchFamily="34" charset="-120"/>
              </a:rPr>
              <a:t>Corvin path</a:t>
            </a:r>
            <a:endParaRPr lang="en-US" sz="1700" dirty="0"/>
          </a:p>
        </p:txBody>
      </p:sp>
      <p:sp>
        <p:nvSpPr>
          <p:cNvPr id="19" name="Text 17"/>
          <p:cNvSpPr/>
          <p:nvPr/>
        </p:nvSpPr>
        <p:spPr>
          <a:xfrm>
            <a:off x="6080760" y="4389120"/>
            <a:ext cx="5333695" cy="457200"/>
          </a:xfrm>
          <a:prstGeom prst="rect">
            <a:avLst/>
          </a:prstGeom>
          <a:noFill/>
          <a:ln/>
        </p:spPr>
        <p:txBody>
          <a:bodyPr wrap="square" lIns="0" tIns="0" rIns="0" bIns="0" rtlCol="0" anchor="ctr"/>
          <a:lstStyle/>
          <a:p>
            <a:pPr marL="0" indent="0">
              <a:buNone/>
            </a:pPr>
            <a:r>
              <a:rPr lang="en-US" sz="1200" i="1" dirty="0">
                <a:solidFill>
                  <a:srgbClr val="2A2218"/>
                </a:solidFill>
                <a:latin typeface="Calibri" pitchFamily="34" charset="0"/>
                <a:ea typeface="Calibri" pitchFamily="34" charset="-122"/>
                <a:cs typeface="Calibri" pitchFamily="34" charset="-120"/>
              </a:rPr>
              <a:t>Private, unsanctioned. Map fragment + payment. Lose Council trust.</a:t>
            </a:r>
            <a:endParaRPr lang="en-US" sz="1200" dirty="0"/>
          </a:p>
        </p:txBody>
      </p:sp>
      <p:sp>
        <p:nvSpPr>
          <p:cNvPr id="20" name="Shape 18"/>
          <p:cNvSpPr/>
          <p:nvPr/>
        </p:nvSpPr>
        <p:spPr>
          <a:xfrm>
            <a:off x="5852160" y="5120640"/>
            <a:ext cx="5790895" cy="1005840"/>
          </a:xfrm>
          <a:prstGeom prst="rect">
            <a:avLst/>
          </a:prstGeom>
          <a:solidFill>
            <a:srgbClr val="FFFFFF"/>
          </a:solidFill>
          <a:ln w="9525">
            <a:solidFill>
              <a:srgbClr val="DDD0B0"/>
            </a:solidFill>
            <a:prstDash val="solid"/>
          </a:ln>
        </p:spPr>
        <p:txBody>
          <a:bodyPr/>
          <a:lstStyle/>
          <a:p>
            <a:endParaRPr lang="en-US"/>
          </a:p>
        </p:txBody>
      </p:sp>
      <p:sp>
        <p:nvSpPr>
          <p:cNvPr id="21" name="Shape 19"/>
          <p:cNvSpPr/>
          <p:nvPr/>
        </p:nvSpPr>
        <p:spPr>
          <a:xfrm>
            <a:off x="5852160" y="5120640"/>
            <a:ext cx="73152" cy="1005840"/>
          </a:xfrm>
          <a:prstGeom prst="rect">
            <a:avLst/>
          </a:prstGeom>
          <a:solidFill>
            <a:srgbClr val="9B2A3A"/>
          </a:solidFill>
          <a:ln w="12700">
            <a:solidFill>
              <a:srgbClr val="9B2A3A"/>
            </a:solidFill>
            <a:prstDash val="solid"/>
          </a:ln>
        </p:spPr>
        <p:txBody>
          <a:bodyPr/>
          <a:lstStyle/>
          <a:p>
            <a:endParaRPr lang="en-US"/>
          </a:p>
        </p:txBody>
      </p:sp>
      <p:sp>
        <p:nvSpPr>
          <p:cNvPr id="22" name="Text 20"/>
          <p:cNvSpPr/>
          <p:nvPr/>
        </p:nvSpPr>
        <p:spPr>
          <a:xfrm>
            <a:off x="6080760" y="5257800"/>
            <a:ext cx="5333695" cy="365760"/>
          </a:xfrm>
          <a:prstGeom prst="rect">
            <a:avLst/>
          </a:prstGeom>
          <a:noFill/>
          <a:ln/>
        </p:spPr>
        <p:txBody>
          <a:bodyPr wrap="square" lIns="0" tIns="0" rIns="0" bIns="0" rtlCol="0" anchor="ctr"/>
          <a:lstStyle/>
          <a:p>
            <a:pPr marL="0" indent="0">
              <a:buNone/>
            </a:pPr>
            <a:r>
              <a:rPr lang="en-US" sz="1700" b="1" dirty="0">
                <a:solidFill>
                  <a:srgbClr val="2A2218"/>
                </a:solidFill>
                <a:latin typeface="Georgia" pitchFamily="34" charset="0"/>
                <a:ea typeface="Georgia" pitchFamily="34" charset="-122"/>
                <a:cs typeface="Georgia" pitchFamily="34" charset="-120"/>
              </a:rPr>
              <a:t>Ashen Band path</a:t>
            </a:r>
            <a:endParaRPr lang="en-US" sz="1700" dirty="0"/>
          </a:p>
        </p:txBody>
      </p:sp>
      <p:sp>
        <p:nvSpPr>
          <p:cNvPr id="23" name="Text 21"/>
          <p:cNvSpPr/>
          <p:nvPr/>
        </p:nvSpPr>
        <p:spPr>
          <a:xfrm>
            <a:off x="6080760" y="5623560"/>
            <a:ext cx="5333695" cy="457200"/>
          </a:xfrm>
          <a:prstGeom prst="rect">
            <a:avLst/>
          </a:prstGeom>
          <a:noFill/>
          <a:ln/>
        </p:spPr>
        <p:txBody>
          <a:bodyPr wrap="square" lIns="0" tIns="0" rIns="0" bIns="0" rtlCol="0" anchor="ctr"/>
          <a:lstStyle/>
          <a:p>
            <a:pPr marL="0" indent="0">
              <a:buNone/>
            </a:pPr>
            <a:r>
              <a:rPr lang="en-US" sz="1200" i="1" dirty="0">
                <a:solidFill>
                  <a:srgbClr val="2A2218"/>
                </a:solidFill>
                <a:latin typeface="Calibri" pitchFamily="34" charset="0"/>
                <a:ea typeface="Calibri" pitchFamily="34" charset="-122"/>
                <a:cs typeface="Calibri" pitchFamily="34" charset="-120"/>
              </a:rPr>
              <a:t>Locked. Unlocks only after learning the bandits' location.</a:t>
            </a:r>
            <a:endParaRPr lang="en-US" sz="1200" dirty="0"/>
          </a:p>
        </p:txBody>
      </p:sp>
      <p:sp>
        <p:nvSpPr>
          <p:cNvPr id="24" name="Text 22"/>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25" name="Text 23"/>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THE TRIO</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Mara, Corvin, Harlan — and the tension between them.</a:t>
            </a:r>
            <a:endParaRPr lang="en-US" sz="3200" dirty="0"/>
          </a:p>
        </p:txBody>
      </p:sp>
      <p:sp>
        <p:nvSpPr>
          <p:cNvPr id="5" name="Shape 3"/>
          <p:cNvSpPr/>
          <p:nvPr/>
        </p:nvSpPr>
        <p:spPr>
          <a:xfrm>
            <a:off x="548640" y="2194560"/>
            <a:ext cx="3576218" cy="3520440"/>
          </a:xfrm>
          <a:prstGeom prst="rect">
            <a:avLst/>
          </a:prstGeom>
          <a:solidFill>
            <a:srgbClr val="FFFFFF"/>
          </a:solidFill>
          <a:ln w="9525">
            <a:solidFill>
              <a:srgbClr val="DDD0B0"/>
            </a:solidFill>
            <a:prstDash val="solid"/>
          </a:ln>
          <a:effectLst>
            <a:outerShdw blurRad="101600" dist="12700" dir="5400000" algn="bl" rotWithShape="0">
              <a:srgbClr val="000000">
                <a:alpha val="6000"/>
              </a:srgbClr>
            </a:outerShdw>
          </a:effectLst>
        </p:spPr>
        <p:txBody>
          <a:bodyPr/>
          <a:lstStyle/>
          <a:p>
            <a:endParaRPr lang="en-US"/>
          </a:p>
        </p:txBody>
      </p:sp>
      <p:sp>
        <p:nvSpPr>
          <p:cNvPr id="6" name="Shape 4"/>
          <p:cNvSpPr/>
          <p:nvPr/>
        </p:nvSpPr>
        <p:spPr>
          <a:xfrm>
            <a:off x="1833829" y="2468880"/>
            <a:ext cx="1005840" cy="1005840"/>
          </a:xfrm>
          <a:prstGeom prst="ellipse">
            <a:avLst/>
          </a:prstGeom>
          <a:solidFill>
            <a:srgbClr val="3A2F18"/>
          </a:solidFill>
          <a:ln w="19050">
            <a:solidFill>
              <a:srgbClr val="E5C878"/>
            </a:solidFill>
            <a:prstDash val="solid"/>
          </a:ln>
        </p:spPr>
        <p:txBody>
          <a:bodyPr/>
          <a:lstStyle/>
          <a:p>
            <a:endParaRPr lang="en-US"/>
          </a:p>
        </p:txBody>
      </p:sp>
      <p:sp>
        <p:nvSpPr>
          <p:cNvPr id="7" name="Text 5"/>
          <p:cNvSpPr/>
          <p:nvPr/>
        </p:nvSpPr>
        <p:spPr>
          <a:xfrm>
            <a:off x="1833829" y="2468880"/>
            <a:ext cx="1005840" cy="1005840"/>
          </a:xfrm>
          <a:prstGeom prst="rect">
            <a:avLst/>
          </a:prstGeom>
          <a:noFill/>
          <a:ln/>
        </p:spPr>
        <p:txBody>
          <a:bodyPr wrap="square" lIns="0" tIns="0" rIns="0" bIns="0" rtlCol="0" anchor="ctr"/>
          <a:lstStyle/>
          <a:p>
            <a:pPr marL="0" indent="0" algn="ctr">
              <a:buNone/>
            </a:pPr>
            <a:r>
              <a:rPr lang="en-US" sz="4400" b="1" dirty="0">
                <a:solidFill>
                  <a:srgbClr val="E5C878"/>
                </a:solidFill>
                <a:latin typeface="Georgia" pitchFamily="34" charset="0"/>
                <a:ea typeface="Georgia" pitchFamily="34" charset="-122"/>
                <a:cs typeface="Georgia" pitchFamily="34" charset="-120"/>
              </a:rPr>
              <a:t>M</a:t>
            </a:r>
            <a:endParaRPr lang="en-US" sz="4400" dirty="0"/>
          </a:p>
        </p:txBody>
      </p:sp>
      <p:sp>
        <p:nvSpPr>
          <p:cNvPr id="8" name="Text 6"/>
          <p:cNvSpPr/>
          <p:nvPr/>
        </p:nvSpPr>
        <p:spPr>
          <a:xfrm>
            <a:off x="731520" y="3611880"/>
            <a:ext cx="3210458" cy="365760"/>
          </a:xfrm>
          <a:prstGeom prst="rect">
            <a:avLst/>
          </a:prstGeom>
          <a:noFill/>
          <a:ln/>
        </p:spPr>
        <p:txBody>
          <a:bodyPr wrap="square" lIns="0" tIns="0" rIns="0" bIns="0" rtlCol="0" anchor="ctr"/>
          <a:lstStyle/>
          <a:p>
            <a:pPr marL="0" indent="0" algn="ctr">
              <a:buNone/>
            </a:pPr>
            <a:r>
              <a:rPr lang="en-US" sz="2200" b="1" kern="0" spc="400" dirty="0">
                <a:solidFill>
                  <a:srgbClr val="2A2218"/>
                </a:solidFill>
                <a:latin typeface="Georgia" pitchFamily="34" charset="0"/>
                <a:ea typeface="Georgia" pitchFamily="34" charset="-122"/>
                <a:cs typeface="Georgia" pitchFamily="34" charset="-120"/>
              </a:rPr>
              <a:t>MARA</a:t>
            </a:r>
            <a:endParaRPr lang="en-US" sz="2200" dirty="0"/>
          </a:p>
        </p:txBody>
      </p:sp>
      <p:sp>
        <p:nvSpPr>
          <p:cNvPr id="9" name="Text 7"/>
          <p:cNvSpPr/>
          <p:nvPr/>
        </p:nvSpPr>
        <p:spPr>
          <a:xfrm>
            <a:off x="731520" y="3977640"/>
            <a:ext cx="3210458" cy="274320"/>
          </a:xfrm>
          <a:prstGeom prst="rect">
            <a:avLst/>
          </a:prstGeom>
          <a:noFill/>
          <a:ln/>
        </p:spPr>
        <p:txBody>
          <a:bodyPr wrap="square" lIns="0" tIns="0" rIns="0" bIns="0" rtlCol="0" anchor="ctr"/>
          <a:lstStyle/>
          <a:p>
            <a:pPr marL="0" indent="0" algn="ctr">
              <a:buNone/>
            </a:pPr>
            <a:r>
              <a:rPr lang="en-US" sz="1100" b="1" i="1" kern="0" spc="200" dirty="0">
                <a:solidFill>
                  <a:srgbClr val="9B2A3A"/>
                </a:solidFill>
                <a:latin typeface="Calibri" pitchFamily="34" charset="0"/>
                <a:ea typeface="Calibri" pitchFamily="34" charset="-122"/>
                <a:cs typeface="Calibri" pitchFamily="34" charset="-120"/>
              </a:rPr>
              <a:t>Innkeeper · quest-giver</a:t>
            </a:r>
            <a:endParaRPr lang="en-US" sz="1100" dirty="0"/>
          </a:p>
        </p:txBody>
      </p:sp>
      <p:sp>
        <p:nvSpPr>
          <p:cNvPr id="10" name="Text 8"/>
          <p:cNvSpPr/>
          <p:nvPr/>
        </p:nvSpPr>
        <p:spPr>
          <a:xfrm>
            <a:off x="822960" y="4389120"/>
            <a:ext cx="3027578" cy="640080"/>
          </a:xfrm>
          <a:prstGeom prst="rect">
            <a:avLst/>
          </a:prstGeom>
          <a:noFill/>
          <a:ln/>
        </p:spPr>
        <p:txBody>
          <a:bodyPr wrap="square" lIns="0" tIns="0" rIns="0" bIns="0" rtlCol="0" anchor="ctr"/>
          <a:lstStyle/>
          <a:p>
            <a:pPr marL="0" indent="0" algn="ctr">
              <a:buNone/>
            </a:pPr>
            <a:r>
              <a:rPr lang="en-US" sz="1200" i="1" dirty="0">
                <a:solidFill>
                  <a:srgbClr val="2A2218"/>
                </a:solidFill>
                <a:latin typeface="Calibri" pitchFamily="34" charset="0"/>
                <a:ea typeface="Calibri" pitchFamily="34" charset="-122"/>
                <a:cs typeface="Calibri" pitchFamily="34" charset="-120"/>
              </a:rPr>
              <a:t>Cautious. Observant. Slow to trust strangers.</a:t>
            </a:r>
            <a:endParaRPr lang="en-US" sz="1200" dirty="0"/>
          </a:p>
        </p:txBody>
      </p:sp>
      <p:sp>
        <p:nvSpPr>
          <p:cNvPr id="11" name="Text 9"/>
          <p:cNvSpPr/>
          <p:nvPr/>
        </p:nvSpPr>
        <p:spPr>
          <a:xfrm>
            <a:off x="822960" y="5029200"/>
            <a:ext cx="3027578" cy="777240"/>
          </a:xfrm>
          <a:prstGeom prst="rect">
            <a:avLst/>
          </a:prstGeom>
          <a:noFill/>
          <a:ln/>
        </p:spPr>
        <p:txBody>
          <a:bodyPr wrap="square" lIns="0" tIns="0" rIns="0" bIns="0" rtlCol="0" anchor="ctr"/>
          <a:lstStyle/>
          <a:p>
            <a:pPr marL="0" indent="0" algn="ctr">
              <a:buNone/>
            </a:pPr>
            <a:r>
              <a:rPr lang="en-US" sz="1200" dirty="0">
                <a:solidFill>
                  <a:srgbClr val="746851"/>
                </a:solidFill>
                <a:latin typeface="Calibri" pitchFamily="34" charset="0"/>
                <a:ea typeface="Calibri" pitchFamily="34" charset="-122"/>
                <a:cs typeface="Calibri" pitchFamily="34" charset="-120"/>
              </a:rPr>
              <a:t>The natural starting point. Voice of the Village Council.</a:t>
            </a:r>
            <a:endParaRPr lang="en-US" sz="1200" dirty="0"/>
          </a:p>
        </p:txBody>
      </p:sp>
      <p:sp>
        <p:nvSpPr>
          <p:cNvPr id="12" name="Shape 10"/>
          <p:cNvSpPr/>
          <p:nvPr/>
        </p:nvSpPr>
        <p:spPr>
          <a:xfrm>
            <a:off x="4307738" y="2194560"/>
            <a:ext cx="3576218" cy="3520440"/>
          </a:xfrm>
          <a:prstGeom prst="rect">
            <a:avLst/>
          </a:prstGeom>
          <a:solidFill>
            <a:srgbClr val="FFFFFF"/>
          </a:solidFill>
          <a:ln w="9525">
            <a:solidFill>
              <a:srgbClr val="DDD0B0"/>
            </a:solidFill>
            <a:prstDash val="solid"/>
          </a:ln>
          <a:effectLst>
            <a:outerShdw blurRad="101600" dist="12700" dir="5400000" algn="bl" rotWithShape="0">
              <a:srgbClr val="000000">
                <a:alpha val="6000"/>
              </a:srgbClr>
            </a:outerShdw>
          </a:effectLst>
        </p:spPr>
        <p:txBody>
          <a:bodyPr/>
          <a:lstStyle/>
          <a:p>
            <a:endParaRPr lang="en-US"/>
          </a:p>
        </p:txBody>
      </p:sp>
      <p:sp>
        <p:nvSpPr>
          <p:cNvPr id="13" name="Shape 11"/>
          <p:cNvSpPr/>
          <p:nvPr/>
        </p:nvSpPr>
        <p:spPr>
          <a:xfrm>
            <a:off x="5592928" y="2468880"/>
            <a:ext cx="1005840" cy="1005840"/>
          </a:xfrm>
          <a:prstGeom prst="ellipse">
            <a:avLst/>
          </a:prstGeom>
          <a:solidFill>
            <a:srgbClr val="2C2238"/>
          </a:solidFill>
          <a:ln w="19050">
            <a:solidFill>
              <a:srgbClr val="C8B6E5"/>
            </a:solidFill>
            <a:prstDash val="solid"/>
          </a:ln>
        </p:spPr>
        <p:txBody>
          <a:bodyPr/>
          <a:lstStyle/>
          <a:p>
            <a:endParaRPr lang="en-US"/>
          </a:p>
        </p:txBody>
      </p:sp>
      <p:sp>
        <p:nvSpPr>
          <p:cNvPr id="14" name="Text 12"/>
          <p:cNvSpPr/>
          <p:nvPr/>
        </p:nvSpPr>
        <p:spPr>
          <a:xfrm>
            <a:off x="5592928" y="2468880"/>
            <a:ext cx="1005840" cy="1005840"/>
          </a:xfrm>
          <a:prstGeom prst="rect">
            <a:avLst/>
          </a:prstGeom>
          <a:noFill/>
          <a:ln/>
        </p:spPr>
        <p:txBody>
          <a:bodyPr wrap="square" lIns="0" tIns="0" rIns="0" bIns="0" rtlCol="0" anchor="ctr"/>
          <a:lstStyle/>
          <a:p>
            <a:pPr marL="0" indent="0" algn="ctr">
              <a:buNone/>
            </a:pPr>
            <a:r>
              <a:rPr lang="en-US" sz="4400" b="1" dirty="0">
                <a:solidFill>
                  <a:srgbClr val="C8B6E5"/>
                </a:solidFill>
                <a:latin typeface="Georgia" pitchFamily="34" charset="0"/>
                <a:ea typeface="Georgia" pitchFamily="34" charset="-122"/>
                <a:cs typeface="Georgia" pitchFamily="34" charset="-120"/>
              </a:rPr>
              <a:t>C</a:t>
            </a:r>
            <a:endParaRPr lang="en-US" sz="4400" dirty="0"/>
          </a:p>
        </p:txBody>
      </p:sp>
      <p:sp>
        <p:nvSpPr>
          <p:cNvPr id="15" name="Text 13"/>
          <p:cNvSpPr/>
          <p:nvPr/>
        </p:nvSpPr>
        <p:spPr>
          <a:xfrm>
            <a:off x="4490618" y="3611880"/>
            <a:ext cx="3210458" cy="365760"/>
          </a:xfrm>
          <a:prstGeom prst="rect">
            <a:avLst/>
          </a:prstGeom>
          <a:noFill/>
          <a:ln/>
        </p:spPr>
        <p:txBody>
          <a:bodyPr wrap="square" lIns="0" tIns="0" rIns="0" bIns="0" rtlCol="0" anchor="ctr"/>
          <a:lstStyle/>
          <a:p>
            <a:pPr marL="0" indent="0" algn="ctr">
              <a:buNone/>
            </a:pPr>
            <a:r>
              <a:rPr lang="en-US" sz="2200" b="1" kern="0" spc="400" dirty="0">
                <a:solidFill>
                  <a:srgbClr val="2A2218"/>
                </a:solidFill>
                <a:latin typeface="Georgia" pitchFamily="34" charset="0"/>
                <a:ea typeface="Georgia" pitchFamily="34" charset="-122"/>
                <a:cs typeface="Georgia" pitchFamily="34" charset="-120"/>
              </a:rPr>
              <a:t>CORVIN</a:t>
            </a:r>
            <a:endParaRPr lang="en-US" sz="2200" dirty="0"/>
          </a:p>
        </p:txBody>
      </p:sp>
      <p:sp>
        <p:nvSpPr>
          <p:cNvPr id="16" name="Text 14"/>
          <p:cNvSpPr/>
          <p:nvPr/>
        </p:nvSpPr>
        <p:spPr>
          <a:xfrm>
            <a:off x="4490618" y="3977640"/>
            <a:ext cx="3210458" cy="274320"/>
          </a:xfrm>
          <a:prstGeom prst="rect">
            <a:avLst/>
          </a:prstGeom>
          <a:noFill/>
          <a:ln/>
        </p:spPr>
        <p:txBody>
          <a:bodyPr wrap="square" lIns="0" tIns="0" rIns="0" bIns="0" rtlCol="0" anchor="ctr"/>
          <a:lstStyle/>
          <a:p>
            <a:pPr marL="0" indent="0" algn="ctr">
              <a:buNone/>
            </a:pPr>
            <a:r>
              <a:rPr lang="en-US" sz="1100" b="1" i="1" kern="0" spc="200" dirty="0">
                <a:solidFill>
                  <a:srgbClr val="9B2A3A"/>
                </a:solidFill>
                <a:latin typeface="Calibri" pitchFamily="34" charset="0"/>
                <a:ea typeface="Calibri" pitchFamily="34" charset="-122"/>
                <a:cs typeface="Calibri" pitchFamily="34" charset="-120"/>
              </a:rPr>
              <a:t>Hooded outsider · alternative path</a:t>
            </a:r>
            <a:endParaRPr lang="en-US" sz="1100" dirty="0"/>
          </a:p>
        </p:txBody>
      </p:sp>
      <p:sp>
        <p:nvSpPr>
          <p:cNvPr id="17" name="Text 15"/>
          <p:cNvSpPr/>
          <p:nvPr/>
        </p:nvSpPr>
        <p:spPr>
          <a:xfrm>
            <a:off x="4582058" y="4389120"/>
            <a:ext cx="3027578" cy="640080"/>
          </a:xfrm>
          <a:prstGeom prst="rect">
            <a:avLst/>
          </a:prstGeom>
          <a:noFill/>
          <a:ln/>
        </p:spPr>
        <p:txBody>
          <a:bodyPr wrap="square" lIns="0" tIns="0" rIns="0" bIns="0" rtlCol="0" anchor="ctr"/>
          <a:lstStyle/>
          <a:p>
            <a:pPr marL="0" indent="0" algn="ctr">
              <a:buNone/>
            </a:pPr>
            <a:r>
              <a:rPr lang="en-US" sz="1200" i="1" dirty="0">
                <a:solidFill>
                  <a:srgbClr val="2A2218"/>
                </a:solidFill>
                <a:latin typeface="Calibri" pitchFamily="34" charset="0"/>
                <a:ea typeface="Calibri" pitchFamily="34" charset="-122"/>
                <a:cs typeface="Calibri" pitchFamily="34" charset="-120"/>
              </a:rPr>
              <a:t>Quiet. Calculating. Quick to size people up.</a:t>
            </a:r>
            <a:endParaRPr lang="en-US" sz="1200" dirty="0"/>
          </a:p>
        </p:txBody>
      </p:sp>
      <p:sp>
        <p:nvSpPr>
          <p:cNvPr id="18" name="Text 16"/>
          <p:cNvSpPr/>
          <p:nvPr/>
        </p:nvSpPr>
        <p:spPr>
          <a:xfrm>
            <a:off x="4582058" y="5029200"/>
            <a:ext cx="3027578" cy="777240"/>
          </a:xfrm>
          <a:prstGeom prst="rect">
            <a:avLst/>
          </a:prstGeom>
          <a:noFill/>
          <a:ln/>
        </p:spPr>
        <p:txBody>
          <a:bodyPr wrap="square" lIns="0" tIns="0" rIns="0" bIns="0" rtlCol="0" anchor="ctr"/>
          <a:lstStyle/>
          <a:p>
            <a:pPr marL="0" indent="0" algn="ctr">
              <a:buNone/>
            </a:pPr>
            <a:r>
              <a:rPr lang="en-US" sz="1200" dirty="0">
                <a:solidFill>
                  <a:srgbClr val="746851"/>
                </a:solidFill>
                <a:latin typeface="Calibri" pitchFamily="34" charset="0"/>
                <a:ea typeface="Calibri" pitchFamily="34" charset="-122"/>
                <a:cs typeface="Calibri" pitchFamily="34" charset="-120"/>
              </a:rPr>
              <a:t>Tracking the Ashen Band. Offers a private path the Council won't sanction.</a:t>
            </a:r>
            <a:endParaRPr lang="en-US" sz="1200" dirty="0"/>
          </a:p>
        </p:txBody>
      </p:sp>
      <p:sp>
        <p:nvSpPr>
          <p:cNvPr id="19" name="Shape 17"/>
          <p:cNvSpPr/>
          <p:nvPr/>
        </p:nvSpPr>
        <p:spPr>
          <a:xfrm>
            <a:off x="8066837" y="2194560"/>
            <a:ext cx="3576218" cy="3520440"/>
          </a:xfrm>
          <a:prstGeom prst="rect">
            <a:avLst/>
          </a:prstGeom>
          <a:solidFill>
            <a:srgbClr val="FFFFFF"/>
          </a:solidFill>
          <a:ln w="9525">
            <a:solidFill>
              <a:srgbClr val="DDD0B0"/>
            </a:solidFill>
            <a:prstDash val="solid"/>
          </a:ln>
          <a:effectLst>
            <a:outerShdw blurRad="101600" dist="12700" dir="5400000" algn="bl" rotWithShape="0">
              <a:srgbClr val="000000">
                <a:alpha val="6000"/>
              </a:srgbClr>
            </a:outerShdw>
          </a:effectLst>
        </p:spPr>
        <p:txBody>
          <a:bodyPr/>
          <a:lstStyle/>
          <a:p>
            <a:endParaRPr lang="en-US"/>
          </a:p>
        </p:txBody>
      </p:sp>
      <p:sp>
        <p:nvSpPr>
          <p:cNvPr id="20" name="Shape 18"/>
          <p:cNvSpPr/>
          <p:nvPr/>
        </p:nvSpPr>
        <p:spPr>
          <a:xfrm>
            <a:off x="9352026" y="2468880"/>
            <a:ext cx="1005840" cy="1005840"/>
          </a:xfrm>
          <a:prstGeom prst="ellipse">
            <a:avLst/>
          </a:prstGeom>
          <a:solidFill>
            <a:srgbClr val="2D1F1A"/>
          </a:solidFill>
          <a:ln w="19050">
            <a:solidFill>
              <a:srgbClr val="D48A5F"/>
            </a:solidFill>
            <a:prstDash val="solid"/>
          </a:ln>
        </p:spPr>
        <p:txBody>
          <a:bodyPr/>
          <a:lstStyle/>
          <a:p>
            <a:endParaRPr lang="en-US"/>
          </a:p>
        </p:txBody>
      </p:sp>
      <p:sp>
        <p:nvSpPr>
          <p:cNvPr id="21" name="Text 19"/>
          <p:cNvSpPr/>
          <p:nvPr/>
        </p:nvSpPr>
        <p:spPr>
          <a:xfrm>
            <a:off x="9352026" y="2468880"/>
            <a:ext cx="1005840" cy="1005840"/>
          </a:xfrm>
          <a:prstGeom prst="rect">
            <a:avLst/>
          </a:prstGeom>
          <a:noFill/>
          <a:ln/>
        </p:spPr>
        <p:txBody>
          <a:bodyPr wrap="square" lIns="0" tIns="0" rIns="0" bIns="0" rtlCol="0" anchor="ctr"/>
          <a:lstStyle/>
          <a:p>
            <a:pPr marL="0" indent="0" algn="ctr">
              <a:buNone/>
            </a:pPr>
            <a:r>
              <a:rPr lang="en-US" sz="4400" b="1" dirty="0">
                <a:solidFill>
                  <a:srgbClr val="D48A5F"/>
                </a:solidFill>
                <a:latin typeface="Georgia" pitchFamily="34" charset="0"/>
                <a:ea typeface="Georgia" pitchFamily="34" charset="-122"/>
                <a:cs typeface="Georgia" pitchFamily="34" charset="-120"/>
              </a:rPr>
              <a:t>H</a:t>
            </a:r>
            <a:endParaRPr lang="en-US" sz="4400" dirty="0"/>
          </a:p>
        </p:txBody>
      </p:sp>
      <p:sp>
        <p:nvSpPr>
          <p:cNvPr id="22" name="Text 20"/>
          <p:cNvSpPr/>
          <p:nvPr/>
        </p:nvSpPr>
        <p:spPr>
          <a:xfrm>
            <a:off x="8249717" y="3611880"/>
            <a:ext cx="3210458" cy="365760"/>
          </a:xfrm>
          <a:prstGeom prst="rect">
            <a:avLst/>
          </a:prstGeom>
          <a:noFill/>
          <a:ln/>
        </p:spPr>
        <p:txBody>
          <a:bodyPr wrap="square" lIns="0" tIns="0" rIns="0" bIns="0" rtlCol="0" anchor="ctr"/>
          <a:lstStyle/>
          <a:p>
            <a:pPr marL="0" indent="0" algn="ctr">
              <a:buNone/>
            </a:pPr>
            <a:r>
              <a:rPr lang="en-US" sz="2200" b="1" kern="0" spc="400" dirty="0">
                <a:solidFill>
                  <a:srgbClr val="2A2218"/>
                </a:solidFill>
                <a:latin typeface="Georgia" pitchFamily="34" charset="0"/>
                <a:ea typeface="Georgia" pitchFamily="34" charset="-122"/>
                <a:cs typeface="Georgia" pitchFamily="34" charset="-120"/>
              </a:rPr>
              <a:t>HARLAN</a:t>
            </a:r>
            <a:endParaRPr lang="en-US" sz="2200" dirty="0"/>
          </a:p>
        </p:txBody>
      </p:sp>
      <p:sp>
        <p:nvSpPr>
          <p:cNvPr id="23" name="Text 21"/>
          <p:cNvSpPr/>
          <p:nvPr/>
        </p:nvSpPr>
        <p:spPr>
          <a:xfrm>
            <a:off x="8249717" y="3977640"/>
            <a:ext cx="3210458" cy="274320"/>
          </a:xfrm>
          <a:prstGeom prst="rect">
            <a:avLst/>
          </a:prstGeom>
          <a:noFill/>
          <a:ln/>
        </p:spPr>
        <p:txBody>
          <a:bodyPr wrap="square" lIns="0" tIns="0" rIns="0" bIns="0" rtlCol="0" anchor="ctr"/>
          <a:lstStyle/>
          <a:p>
            <a:pPr marL="0" indent="0" algn="ctr">
              <a:buNone/>
            </a:pPr>
            <a:r>
              <a:rPr lang="en-US" sz="1100" b="1" i="1" kern="0" spc="200" dirty="0">
                <a:solidFill>
                  <a:srgbClr val="9B2A3A"/>
                </a:solidFill>
                <a:latin typeface="Calibri" pitchFamily="34" charset="0"/>
                <a:ea typeface="Calibri" pitchFamily="34" charset="-122"/>
                <a:cs typeface="Calibri" pitchFamily="34" charset="-120"/>
              </a:rPr>
              <a:t>Blacksmith · clue source</a:t>
            </a:r>
            <a:endParaRPr lang="en-US" sz="1100" dirty="0"/>
          </a:p>
        </p:txBody>
      </p:sp>
      <p:sp>
        <p:nvSpPr>
          <p:cNvPr id="24" name="Text 22"/>
          <p:cNvSpPr/>
          <p:nvPr/>
        </p:nvSpPr>
        <p:spPr>
          <a:xfrm>
            <a:off x="8341157" y="4389120"/>
            <a:ext cx="3027578" cy="640080"/>
          </a:xfrm>
          <a:prstGeom prst="rect">
            <a:avLst/>
          </a:prstGeom>
          <a:noFill/>
          <a:ln/>
        </p:spPr>
        <p:txBody>
          <a:bodyPr wrap="square" lIns="0" tIns="0" rIns="0" bIns="0" rtlCol="0" anchor="ctr"/>
          <a:lstStyle/>
          <a:p>
            <a:pPr marL="0" indent="0" algn="ctr">
              <a:buNone/>
            </a:pPr>
            <a:r>
              <a:rPr lang="en-US" sz="1200" i="1" dirty="0">
                <a:solidFill>
                  <a:srgbClr val="2A2218"/>
                </a:solidFill>
                <a:latin typeface="Calibri" pitchFamily="34" charset="0"/>
                <a:ea typeface="Calibri" pitchFamily="34" charset="-122"/>
                <a:cs typeface="Calibri" pitchFamily="34" charset="-120"/>
              </a:rPr>
              <a:t>Blunt. Anxious. Slow to lie but quick to change subject.</a:t>
            </a:r>
            <a:endParaRPr lang="en-US" sz="1200" dirty="0"/>
          </a:p>
        </p:txBody>
      </p:sp>
      <p:sp>
        <p:nvSpPr>
          <p:cNvPr id="25" name="Text 23"/>
          <p:cNvSpPr/>
          <p:nvPr/>
        </p:nvSpPr>
        <p:spPr>
          <a:xfrm>
            <a:off x="8341157" y="5029200"/>
            <a:ext cx="3027578" cy="777240"/>
          </a:xfrm>
          <a:prstGeom prst="rect">
            <a:avLst/>
          </a:prstGeom>
          <a:noFill/>
          <a:ln/>
        </p:spPr>
        <p:txBody>
          <a:bodyPr wrap="square" lIns="0" tIns="0" rIns="0" bIns="0" rtlCol="0" anchor="ctr"/>
          <a:lstStyle/>
          <a:p>
            <a:pPr marL="0" indent="0" algn="ctr">
              <a:buNone/>
            </a:pPr>
            <a:r>
              <a:rPr lang="en-US" sz="1200" dirty="0">
                <a:solidFill>
                  <a:srgbClr val="746851"/>
                </a:solidFill>
                <a:latin typeface="Calibri" pitchFamily="34" charset="0"/>
                <a:ea typeface="Calibri" pitchFamily="34" charset="-122"/>
                <a:cs typeface="Calibri" pitchFamily="34" charset="-120"/>
              </a:rPr>
              <a:t>Buys metal that probably came from the ruins. Has clues — if approached gently.</a:t>
            </a:r>
            <a:endParaRPr lang="en-US" sz="1200" dirty="0"/>
          </a:p>
        </p:txBody>
      </p:sp>
      <p:sp>
        <p:nvSpPr>
          <p:cNvPr id="26" name="Text 24"/>
          <p:cNvSpPr/>
          <p:nvPr/>
        </p:nvSpPr>
        <p:spPr>
          <a:xfrm>
            <a:off x="548640" y="5852160"/>
            <a:ext cx="11094415" cy="365760"/>
          </a:xfrm>
          <a:prstGeom prst="rect">
            <a:avLst/>
          </a:prstGeom>
          <a:noFill/>
          <a:ln/>
        </p:spPr>
        <p:txBody>
          <a:bodyPr wrap="square" lIns="0" tIns="0" rIns="0" bIns="0" rtlCol="0" anchor="ctr"/>
          <a:lstStyle/>
          <a:p>
            <a:pPr marL="0" indent="0" algn="ctr">
              <a:buNone/>
            </a:pPr>
            <a:r>
              <a:rPr lang="en-US" sz="1400" b="1" i="1" dirty="0">
                <a:solidFill>
                  <a:srgbClr val="9B2A3A"/>
                </a:solidFill>
                <a:latin typeface="Calibri" pitchFamily="34" charset="0"/>
                <a:ea typeface="Calibri" pitchFamily="34" charset="-122"/>
                <a:cs typeface="Calibri" pitchFamily="34" charset="-120"/>
              </a:rPr>
              <a:t>Mara distrusts Corvin.   Corvin won't speak in front of Mara.   Harlan trades with both.</a:t>
            </a:r>
            <a:endParaRPr lang="en-US" sz="1400" dirty="0"/>
          </a:p>
        </p:txBody>
      </p:sp>
      <p:sp>
        <p:nvSpPr>
          <p:cNvPr id="27" name="Text 25"/>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28" name="Text 26"/>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1097280" y="2011680"/>
            <a:ext cx="10058400" cy="411480"/>
          </a:xfrm>
          <a:prstGeom prst="rect">
            <a:avLst/>
          </a:prstGeom>
          <a:noFill/>
          <a:ln/>
        </p:spPr>
        <p:txBody>
          <a:bodyPr wrap="square" lIns="0" tIns="0" rIns="0" bIns="0" rtlCol="0" anchor="ctr"/>
          <a:lstStyle/>
          <a:p>
            <a:pPr marL="0" indent="0">
              <a:buNone/>
            </a:pPr>
            <a:r>
              <a:rPr lang="en-US" sz="1400" b="1" kern="0" spc="800" dirty="0">
                <a:solidFill>
                  <a:srgbClr val="4C8A6E"/>
                </a:solidFill>
                <a:latin typeface="Calibri" pitchFamily="34" charset="0"/>
                <a:ea typeface="Calibri" pitchFamily="34" charset="-122"/>
                <a:cs typeface="Calibri" pitchFamily="34" charset="-120"/>
              </a:rPr>
              <a:t>LIVE</a:t>
            </a:r>
            <a:endParaRPr lang="en-US" sz="1400" dirty="0"/>
          </a:p>
        </p:txBody>
      </p:sp>
      <p:sp>
        <p:nvSpPr>
          <p:cNvPr id="4" name="Text 2"/>
          <p:cNvSpPr/>
          <p:nvPr/>
        </p:nvSpPr>
        <p:spPr>
          <a:xfrm>
            <a:off x="1097280" y="2468880"/>
            <a:ext cx="10058400" cy="1188720"/>
          </a:xfrm>
          <a:prstGeom prst="rect">
            <a:avLst/>
          </a:prstGeom>
          <a:noFill/>
          <a:ln/>
        </p:spPr>
        <p:txBody>
          <a:bodyPr wrap="square" lIns="0" tIns="0" rIns="0" bIns="0" rtlCol="0" anchor="ctr"/>
          <a:lstStyle/>
          <a:p>
            <a:pPr marL="0" indent="0">
              <a:buNone/>
            </a:pPr>
            <a:r>
              <a:rPr lang="en-US" sz="5600" b="1" i="1" dirty="0">
                <a:solidFill>
                  <a:srgbClr val="F1E6CF"/>
                </a:solidFill>
                <a:latin typeface="Georgia" pitchFamily="34" charset="0"/>
                <a:ea typeface="Georgia" pitchFamily="34" charset="-122"/>
                <a:cs typeface="Georgia" pitchFamily="34" charset="-120"/>
              </a:rPr>
              <a:t>Switch to the browser.</a:t>
            </a:r>
            <a:endParaRPr lang="en-US" sz="5600" dirty="0"/>
          </a:p>
        </p:txBody>
      </p:sp>
      <p:sp>
        <p:nvSpPr>
          <p:cNvPr id="5" name="Shape 3"/>
          <p:cNvSpPr/>
          <p:nvPr/>
        </p:nvSpPr>
        <p:spPr>
          <a:xfrm>
            <a:off x="1097280" y="4023360"/>
            <a:ext cx="10058400" cy="2194560"/>
          </a:xfrm>
          <a:prstGeom prst="rect">
            <a:avLst/>
          </a:prstGeom>
          <a:solidFill>
            <a:srgbClr val="241B14"/>
          </a:solidFill>
          <a:ln w="12700">
            <a:solidFill>
              <a:srgbClr val="C8A24B"/>
            </a:solidFill>
            <a:prstDash val="solid"/>
          </a:ln>
        </p:spPr>
        <p:txBody>
          <a:bodyPr/>
          <a:lstStyle/>
          <a:p>
            <a:endParaRPr lang="en-US"/>
          </a:p>
        </p:txBody>
      </p:sp>
      <p:sp>
        <p:nvSpPr>
          <p:cNvPr id="6" name="Text 4"/>
          <p:cNvSpPr/>
          <p:nvPr/>
        </p:nvSpPr>
        <p:spPr>
          <a:xfrm>
            <a:off x="1463040" y="4206240"/>
            <a:ext cx="9326880" cy="274320"/>
          </a:xfrm>
          <a:prstGeom prst="rect">
            <a:avLst/>
          </a:prstGeom>
          <a:noFill/>
          <a:ln/>
        </p:spPr>
        <p:txBody>
          <a:bodyPr wrap="square" lIns="0" tIns="0" rIns="0" bIns="0" rtlCol="0" anchor="ctr"/>
          <a:lstStyle/>
          <a:p>
            <a:pPr marL="0" indent="0">
              <a:buNone/>
            </a:pPr>
            <a:r>
              <a:rPr lang="en-US" sz="1100" b="1" kern="0" spc="600" dirty="0">
                <a:solidFill>
                  <a:srgbClr val="C8A24B"/>
                </a:solidFill>
                <a:latin typeface="Calibri" pitchFamily="34" charset="0"/>
                <a:ea typeface="Calibri" pitchFamily="34" charset="-122"/>
                <a:cs typeface="Calibri" pitchFamily="34" charset="-120"/>
              </a:rPr>
              <a:t>DEMO PLAN</a:t>
            </a:r>
            <a:endParaRPr lang="en-US" sz="1100" dirty="0"/>
          </a:p>
        </p:txBody>
      </p:sp>
      <p:sp>
        <p:nvSpPr>
          <p:cNvPr id="7" name="Text 5"/>
          <p:cNvSpPr/>
          <p:nvPr/>
        </p:nvSpPr>
        <p:spPr>
          <a:xfrm>
            <a:off x="1463040" y="4617720"/>
            <a:ext cx="9326880" cy="1417320"/>
          </a:xfrm>
          <a:prstGeom prst="rect">
            <a:avLst/>
          </a:prstGeom>
          <a:noFill/>
          <a:ln/>
        </p:spPr>
        <p:txBody>
          <a:bodyPr wrap="square" lIns="0" tIns="0" rIns="0" bIns="0" rtlCol="0" anchor="ctr"/>
          <a:lstStyle/>
          <a:p>
            <a:pPr marL="0" indent="0">
              <a:spcAft>
                <a:spcPts val="800"/>
              </a:spcAft>
              <a:buNone/>
            </a:pPr>
            <a:r>
              <a:rPr lang="en-US" sz="1600" b="1" dirty="0">
                <a:solidFill>
                  <a:srgbClr val="F1E6CF"/>
                </a:solidFill>
                <a:latin typeface="Calibri" pitchFamily="34" charset="0"/>
                <a:ea typeface="Calibri" pitchFamily="34" charset="-122"/>
                <a:cs typeface="Calibri" pitchFamily="34" charset="-120"/>
              </a:rPr>
              <a:t>Talk to Mara</a:t>
            </a:r>
            <a:r>
              <a:rPr lang="en-US" sz="1600" dirty="0">
                <a:solidFill>
                  <a:srgbClr val="B9A985"/>
                </a:solidFill>
                <a:latin typeface="Calibri" pitchFamily="34" charset="0"/>
                <a:ea typeface="Calibri" pitchFamily="34" charset="-122"/>
                <a:cs typeface="Calibri" pitchFamily="34" charset="-120"/>
              </a:rPr>
              <a:t> — show the Router → NPC → Quest agents lighting up live.</a:t>
            </a:r>
            <a:endParaRPr lang="en-US" sz="1600" dirty="0"/>
          </a:p>
          <a:p>
            <a:pPr marL="0" indent="0">
              <a:spcAft>
                <a:spcPts val="800"/>
              </a:spcAft>
              <a:buNone/>
            </a:pPr>
            <a:r>
              <a:rPr lang="en-US" sz="1600" b="1" dirty="0">
                <a:solidFill>
                  <a:srgbClr val="F1E6CF"/>
                </a:solidFill>
                <a:latin typeface="Calibri" pitchFamily="34" charset="0"/>
                <a:ea typeface="Calibri" pitchFamily="34" charset="-122"/>
                <a:cs typeface="Calibri" pitchFamily="34" charset="-120"/>
              </a:rPr>
              <a:t>Talk to Corvin</a:t>
            </a:r>
            <a:r>
              <a:rPr lang="en-US" sz="1600" dirty="0">
                <a:solidFill>
                  <a:srgbClr val="B9A985"/>
                </a:solidFill>
                <a:latin typeface="Calibri" pitchFamily="34" charset="0"/>
                <a:ea typeface="Calibri" pitchFamily="34" charset="-122"/>
                <a:cs typeface="Calibri" pitchFamily="34" charset="-120"/>
              </a:rPr>
              <a:t> — same architecture, completely different voice.</a:t>
            </a:r>
            <a:endParaRPr lang="en-US" sz="1600" dirty="0"/>
          </a:p>
          <a:p>
            <a:pPr marL="0" indent="0">
              <a:spcAft>
                <a:spcPts val="800"/>
              </a:spcAft>
              <a:buNone/>
            </a:pPr>
            <a:r>
              <a:rPr lang="en-US" sz="1600" b="1" dirty="0">
                <a:solidFill>
                  <a:srgbClr val="F1E6CF"/>
                </a:solidFill>
                <a:latin typeface="Calibri" pitchFamily="34" charset="0"/>
                <a:ea typeface="Calibri" pitchFamily="34" charset="-122"/>
                <a:cs typeface="Calibri" pitchFamily="34" charset="-120"/>
              </a:rPr>
              <a:t>Type a freeform action </a:t>
            </a:r>
            <a:r>
              <a:rPr lang="en-US" sz="1600" dirty="0">
                <a:solidFill>
                  <a:srgbClr val="B9A985"/>
                </a:solidFill>
                <a:latin typeface="Calibri" pitchFamily="34" charset="0"/>
                <a:ea typeface="Calibri" pitchFamily="34" charset="-122"/>
                <a:cs typeface="Calibri" pitchFamily="34" charset="-120"/>
              </a:rPr>
              <a:t>to prove it isn't scripted.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1097280" y="2194560"/>
            <a:ext cx="9144000" cy="457200"/>
          </a:xfrm>
          <a:prstGeom prst="rect">
            <a:avLst/>
          </a:prstGeom>
          <a:noFill/>
          <a:ln/>
        </p:spPr>
        <p:txBody>
          <a:bodyPr wrap="square" lIns="0" tIns="0" rIns="0" bIns="0" rtlCol="0" anchor="ctr"/>
          <a:lstStyle/>
          <a:p>
            <a:pPr marL="0" indent="0">
              <a:buNone/>
            </a:pPr>
            <a:r>
              <a:rPr lang="en-US" sz="1400" b="1" kern="0" spc="800" dirty="0">
                <a:solidFill>
                  <a:srgbClr val="C8A24B"/>
                </a:solidFill>
                <a:latin typeface="Calibri" pitchFamily="34" charset="0"/>
                <a:ea typeface="Calibri" pitchFamily="34" charset="-122"/>
                <a:cs typeface="Calibri" pitchFamily="34" charset="-120"/>
              </a:rPr>
              <a:t>PART III   ·   AGNES</a:t>
            </a:r>
            <a:endParaRPr lang="en-US" sz="1400" dirty="0"/>
          </a:p>
        </p:txBody>
      </p:sp>
      <p:sp>
        <p:nvSpPr>
          <p:cNvPr id="4" name="Text 2"/>
          <p:cNvSpPr/>
          <p:nvPr/>
        </p:nvSpPr>
        <p:spPr>
          <a:xfrm>
            <a:off x="1097280" y="2697480"/>
            <a:ext cx="10058400" cy="1188720"/>
          </a:xfrm>
          <a:prstGeom prst="rect">
            <a:avLst/>
          </a:prstGeom>
          <a:noFill/>
          <a:ln/>
        </p:spPr>
        <p:txBody>
          <a:bodyPr wrap="square" lIns="0" tIns="0" rIns="0" bIns="0" rtlCol="0" anchor="ctr"/>
          <a:lstStyle/>
          <a:p>
            <a:pPr marL="0" indent="0">
              <a:buNone/>
            </a:pPr>
            <a:r>
              <a:rPr lang="en-US" sz="5600" b="1" i="1" dirty="0">
                <a:solidFill>
                  <a:srgbClr val="F1E6CF"/>
                </a:solidFill>
                <a:latin typeface="Georgia" pitchFamily="34" charset="0"/>
                <a:ea typeface="Georgia" pitchFamily="34" charset="-122"/>
                <a:cs typeface="Georgia" pitchFamily="34" charset="-120"/>
              </a:rPr>
              <a:t>Validation &amp; Rules</a:t>
            </a:r>
            <a:endParaRPr lang="en-US" sz="5600" dirty="0"/>
          </a:p>
        </p:txBody>
      </p:sp>
      <p:sp>
        <p:nvSpPr>
          <p:cNvPr id="5" name="Text 3"/>
          <p:cNvSpPr/>
          <p:nvPr/>
        </p:nvSpPr>
        <p:spPr>
          <a:xfrm>
            <a:off x="1097280" y="3977640"/>
            <a:ext cx="10058400" cy="502920"/>
          </a:xfrm>
          <a:prstGeom prst="rect">
            <a:avLst/>
          </a:prstGeom>
          <a:noFill/>
          <a:ln/>
        </p:spPr>
        <p:txBody>
          <a:bodyPr wrap="square" lIns="0" tIns="0" rIns="0" bIns="0" rtlCol="0" anchor="ctr"/>
          <a:lstStyle/>
          <a:p>
            <a:pPr marL="0" indent="0">
              <a:buNone/>
            </a:pPr>
            <a:r>
              <a:rPr lang="en-US" sz="2000" i="1" dirty="0">
                <a:solidFill>
                  <a:srgbClr val="B9A985"/>
                </a:solidFill>
                <a:latin typeface="Calibri" pitchFamily="34" charset="0"/>
                <a:ea typeface="Calibri" pitchFamily="34" charset="-122"/>
                <a:cs typeface="Calibri" pitchFamily="34" charset="-120"/>
              </a:rPr>
              <a:t>How the system stays correct.</a:t>
            </a:r>
            <a:endParaRPr lang="en-US" sz="2000" dirty="0"/>
          </a:p>
        </p:txBody>
      </p:sp>
      <p:sp>
        <p:nvSpPr>
          <p:cNvPr id="6" name="Text 4"/>
          <p:cNvSpPr/>
          <p:nvPr/>
        </p:nvSpPr>
        <p:spPr>
          <a:xfrm>
            <a:off x="1097280" y="4663440"/>
            <a:ext cx="914400" cy="548640"/>
          </a:xfrm>
          <a:prstGeom prst="rect">
            <a:avLst/>
          </a:prstGeom>
          <a:noFill/>
          <a:ln/>
        </p:spPr>
        <p:txBody>
          <a:bodyPr wrap="square" lIns="0" tIns="0" rIns="0" bIns="0" rtlCol="0" anchor="ctr"/>
          <a:lstStyle/>
          <a:p>
            <a:pPr marL="0" indent="0">
              <a:buNone/>
            </a:pPr>
            <a:r>
              <a:rPr lang="en-US" sz="2800" dirty="0">
                <a:solidFill>
                  <a:srgbClr val="9B2A3A"/>
                </a:solidFill>
                <a:latin typeface="Georgia" pitchFamily="34" charset="0"/>
                <a:ea typeface="Georgia" pitchFamily="34" charset="-122"/>
                <a:cs typeface="Georgia" pitchFamily="34" charset="-120"/>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MY CONTRIBUTION</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Two specialists and a test suite.</a:t>
            </a:r>
            <a:endParaRPr lang="en-US" sz="3200" dirty="0"/>
          </a:p>
        </p:txBody>
      </p:sp>
      <p:sp>
        <p:nvSpPr>
          <p:cNvPr id="5" name="Shape 3"/>
          <p:cNvSpPr/>
          <p:nvPr/>
        </p:nvSpPr>
        <p:spPr>
          <a:xfrm>
            <a:off x="548640" y="2240280"/>
            <a:ext cx="3576218" cy="324612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6" name="Shape 4"/>
          <p:cNvSpPr/>
          <p:nvPr/>
        </p:nvSpPr>
        <p:spPr>
          <a:xfrm>
            <a:off x="548640" y="2240280"/>
            <a:ext cx="91440" cy="3246120"/>
          </a:xfrm>
          <a:prstGeom prst="rect">
            <a:avLst/>
          </a:prstGeom>
          <a:solidFill>
            <a:srgbClr val="9B2A3A"/>
          </a:solidFill>
          <a:ln w="12700">
            <a:solidFill>
              <a:srgbClr val="9B2A3A"/>
            </a:solidFill>
            <a:prstDash val="solid"/>
          </a:ln>
        </p:spPr>
        <p:txBody>
          <a:bodyPr/>
          <a:lstStyle/>
          <a:p>
            <a:endParaRPr lang="en-US"/>
          </a:p>
        </p:txBody>
      </p:sp>
      <p:sp>
        <p:nvSpPr>
          <p:cNvPr id="7" name="Text 5"/>
          <p:cNvSpPr/>
          <p:nvPr/>
        </p:nvSpPr>
        <p:spPr>
          <a:xfrm>
            <a:off x="822960" y="2514600"/>
            <a:ext cx="3027578" cy="457200"/>
          </a:xfrm>
          <a:prstGeom prst="rect">
            <a:avLst/>
          </a:prstGeom>
          <a:noFill/>
          <a:ln/>
        </p:spPr>
        <p:txBody>
          <a:bodyPr wrap="square" lIns="0" tIns="0" rIns="0" bIns="0" rtlCol="0" anchor="ctr"/>
          <a:lstStyle/>
          <a:p>
            <a:pPr marL="0" indent="0">
              <a:buNone/>
            </a:pPr>
            <a:r>
              <a:rPr lang="en-US" sz="2200" b="1" dirty="0">
                <a:solidFill>
                  <a:srgbClr val="2A2218"/>
                </a:solidFill>
                <a:latin typeface="Georgia" pitchFamily="34" charset="0"/>
                <a:ea typeface="Georgia" pitchFamily="34" charset="-122"/>
                <a:cs typeface="Georgia" pitchFamily="34" charset="-120"/>
              </a:rPr>
              <a:t>Rules Agent</a:t>
            </a:r>
            <a:endParaRPr lang="en-US" sz="2200" dirty="0"/>
          </a:p>
        </p:txBody>
      </p:sp>
      <p:sp>
        <p:nvSpPr>
          <p:cNvPr id="8" name="Text 6"/>
          <p:cNvSpPr/>
          <p:nvPr/>
        </p:nvSpPr>
        <p:spPr>
          <a:xfrm>
            <a:off x="822960" y="3017520"/>
            <a:ext cx="3027578" cy="274320"/>
          </a:xfrm>
          <a:prstGeom prst="rect">
            <a:avLst/>
          </a:prstGeom>
          <a:noFill/>
          <a:ln/>
        </p:spPr>
        <p:txBody>
          <a:bodyPr wrap="square" lIns="0" tIns="0" rIns="0" bIns="0" rtlCol="0" anchor="ctr"/>
          <a:lstStyle/>
          <a:p>
            <a:pPr marL="0" indent="0">
              <a:buNone/>
            </a:pPr>
            <a:r>
              <a:rPr lang="en-US" sz="1000" dirty="0">
                <a:solidFill>
                  <a:srgbClr val="9B2A3A"/>
                </a:solidFill>
                <a:latin typeface="Consolas" pitchFamily="34" charset="0"/>
                <a:ea typeface="Consolas" pitchFamily="34" charset="-122"/>
                <a:cs typeface="Consolas" pitchFamily="34" charset="-120"/>
              </a:rPr>
              <a:t>src/agents/rules_agent.py</a:t>
            </a:r>
            <a:endParaRPr lang="en-US" sz="1000" dirty="0"/>
          </a:p>
        </p:txBody>
      </p:sp>
      <p:sp>
        <p:nvSpPr>
          <p:cNvPr id="9" name="Text 7"/>
          <p:cNvSpPr/>
          <p:nvPr/>
        </p:nvSpPr>
        <p:spPr>
          <a:xfrm>
            <a:off x="822960" y="3337560"/>
            <a:ext cx="3027578" cy="19659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Resolves uncertain or contested actions — combat, skill checks, dice. Returns success / failure / partial-success with proposed mechanical consequences. Stays grounded in the simplified rules summary.</a:t>
            </a:r>
            <a:endParaRPr lang="en-US" sz="1300" dirty="0"/>
          </a:p>
        </p:txBody>
      </p:sp>
      <p:sp>
        <p:nvSpPr>
          <p:cNvPr id="10" name="Shape 8"/>
          <p:cNvSpPr/>
          <p:nvPr/>
        </p:nvSpPr>
        <p:spPr>
          <a:xfrm>
            <a:off x="4307738" y="2240280"/>
            <a:ext cx="3576218" cy="324612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11" name="Shape 9"/>
          <p:cNvSpPr/>
          <p:nvPr/>
        </p:nvSpPr>
        <p:spPr>
          <a:xfrm>
            <a:off x="4307738" y="2240280"/>
            <a:ext cx="91440" cy="3246120"/>
          </a:xfrm>
          <a:prstGeom prst="rect">
            <a:avLst/>
          </a:prstGeom>
          <a:solidFill>
            <a:srgbClr val="9B2A3A"/>
          </a:solidFill>
          <a:ln w="12700">
            <a:solidFill>
              <a:srgbClr val="9B2A3A"/>
            </a:solidFill>
            <a:prstDash val="solid"/>
          </a:ln>
        </p:spPr>
        <p:txBody>
          <a:bodyPr/>
          <a:lstStyle/>
          <a:p>
            <a:endParaRPr lang="en-US"/>
          </a:p>
        </p:txBody>
      </p:sp>
      <p:sp>
        <p:nvSpPr>
          <p:cNvPr id="12" name="Text 10"/>
          <p:cNvSpPr/>
          <p:nvPr/>
        </p:nvSpPr>
        <p:spPr>
          <a:xfrm>
            <a:off x="4582058" y="2514600"/>
            <a:ext cx="3027578" cy="457200"/>
          </a:xfrm>
          <a:prstGeom prst="rect">
            <a:avLst/>
          </a:prstGeom>
          <a:noFill/>
          <a:ln/>
        </p:spPr>
        <p:txBody>
          <a:bodyPr wrap="square" lIns="0" tIns="0" rIns="0" bIns="0" rtlCol="0" anchor="ctr"/>
          <a:lstStyle/>
          <a:p>
            <a:pPr marL="0" indent="0">
              <a:buNone/>
            </a:pPr>
            <a:r>
              <a:rPr lang="en-US" sz="2200" b="1" dirty="0">
                <a:solidFill>
                  <a:srgbClr val="2A2218"/>
                </a:solidFill>
                <a:latin typeface="Georgia" pitchFamily="34" charset="0"/>
                <a:ea typeface="Georgia" pitchFamily="34" charset="-122"/>
                <a:cs typeface="Georgia" pitchFamily="34" charset="-120"/>
              </a:rPr>
              <a:t>Critic Agent</a:t>
            </a:r>
            <a:endParaRPr lang="en-US" sz="2200" dirty="0"/>
          </a:p>
        </p:txBody>
      </p:sp>
      <p:sp>
        <p:nvSpPr>
          <p:cNvPr id="13" name="Text 11"/>
          <p:cNvSpPr/>
          <p:nvPr/>
        </p:nvSpPr>
        <p:spPr>
          <a:xfrm>
            <a:off x="4582058" y="3017520"/>
            <a:ext cx="3027578" cy="274320"/>
          </a:xfrm>
          <a:prstGeom prst="rect">
            <a:avLst/>
          </a:prstGeom>
          <a:noFill/>
          <a:ln/>
        </p:spPr>
        <p:txBody>
          <a:bodyPr wrap="square" lIns="0" tIns="0" rIns="0" bIns="0" rtlCol="0" anchor="ctr"/>
          <a:lstStyle/>
          <a:p>
            <a:pPr marL="0" indent="0">
              <a:buNone/>
            </a:pPr>
            <a:r>
              <a:rPr lang="en-US" sz="1000" dirty="0">
                <a:solidFill>
                  <a:srgbClr val="9B2A3A"/>
                </a:solidFill>
                <a:latin typeface="Consolas" pitchFamily="34" charset="0"/>
                <a:ea typeface="Consolas" pitchFamily="34" charset="-122"/>
                <a:cs typeface="Consolas" pitchFamily="34" charset="-120"/>
              </a:rPr>
              <a:t>src/agents/critic_agent.py</a:t>
            </a:r>
            <a:endParaRPr lang="en-US" sz="1000" dirty="0"/>
          </a:p>
        </p:txBody>
      </p:sp>
      <p:sp>
        <p:nvSpPr>
          <p:cNvPr id="14" name="Text 12"/>
          <p:cNvSpPr/>
          <p:nvPr/>
        </p:nvSpPr>
        <p:spPr>
          <a:xfrm>
            <a:off x="4582058" y="3337560"/>
            <a:ext cx="3027578" cy="19659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Validates every specialist proposal before commit. Catches contradictions, illegal transitions, NPC reactions based on knowledge they shouldn't have. Approve, reject, or warn.</a:t>
            </a:r>
            <a:endParaRPr lang="en-US" sz="1300" dirty="0"/>
          </a:p>
        </p:txBody>
      </p:sp>
      <p:sp>
        <p:nvSpPr>
          <p:cNvPr id="15" name="Shape 13"/>
          <p:cNvSpPr/>
          <p:nvPr/>
        </p:nvSpPr>
        <p:spPr>
          <a:xfrm>
            <a:off x="8066837" y="2240280"/>
            <a:ext cx="3576218" cy="3246120"/>
          </a:xfrm>
          <a:prstGeom prst="rect">
            <a:avLst/>
          </a:prstGeom>
          <a:solidFill>
            <a:srgbClr val="FFFFFF"/>
          </a:solidFill>
          <a:ln w="9525">
            <a:solidFill>
              <a:srgbClr val="DDD0B0"/>
            </a:solidFill>
            <a:prstDash val="solid"/>
          </a:ln>
          <a:effectLst>
            <a:outerShdw blurRad="76200" dist="12700" dir="5400000" algn="bl" rotWithShape="0">
              <a:srgbClr val="000000">
                <a:alpha val="6000"/>
              </a:srgbClr>
            </a:outerShdw>
          </a:effectLst>
        </p:spPr>
        <p:txBody>
          <a:bodyPr/>
          <a:lstStyle/>
          <a:p>
            <a:endParaRPr lang="en-US"/>
          </a:p>
        </p:txBody>
      </p:sp>
      <p:sp>
        <p:nvSpPr>
          <p:cNvPr id="16" name="Shape 14"/>
          <p:cNvSpPr/>
          <p:nvPr/>
        </p:nvSpPr>
        <p:spPr>
          <a:xfrm>
            <a:off x="8066837" y="2240280"/>
            <a:ext cx="91440" cy="3246120"/>
          </a:xfrm>
          <a:prstGeom prst="rect">
            <a:avLst/>
          </a:prstGeom>
          <a:solidFill>
            <a:srgbClr val="9B2A3A"/>
          </a:solidFill>
          <a:ln w="12700">
            <a:solidFill>
              <a:srgbClr val="9B2A3A"/>
            </a:solidFill>
            <a:prstDash val="solid"/>
          </a:ln>
        </p:spPr>
        <p:txBody>
          <a:bodyPr/>
          <a:lstStyle/>
          <a:p>
            <a:endParaRPr lang="en-US"/>
          </a:p>
        </p:txBody>
      </p:sp>
      <p:sp>
        <p:nvSpPr>
          <p:cNvPr id="17" name="Text 15"/>
          <p:cNvSpPr/>
          <p:nvPr/>
        </p:nvSpPr>
        <p:spPr>
          <a:xfrm>
            <a:off x="8341157" y="2514600"/>
            <a:ext cx="3027578" cy="457200"/>
          </a:xfrm>
          <a:prstGeom prst="rect">
            <a:avLst/>
          </a:prstGeom>
          <a:noFill/>
          <a:ln/>
        </p:spPr>
        <p:txBody>
          <a:bodyPr wrap="square" lIns="0" tIns="0" rIns="0" bIns="0" rtlCol="0" anchor="ctr"/>
          <a:lstStyle/>
          <a:p>
            <a:pPr marL="0" indent="0">
              <a:buNone/>
            </a:pPr>
            <a:r>
              <a:rPr lang="en-US" sz="2200" b="1" dirty="0">
                <a:solidFill>
                  <a:srgbClr val="2A2218"/>
                </a:solidFill>
                <a:latin typeface="Georgia" pitchFamily="34" charset="0"/>
                <a:ea typeface="Georgia" pitchFamily="34" charset="-122"/>
                <a:cs typeface="Georgia" pitchFamily="34" charset="-120"/>
              </a:rPr>
              <a:t>Test suite</a:t>
            </a:r>
            <a:endParaRPr lang="en-US" sz="2200" dirty="0"/>
          </a:p>
        </p:txBody>
      </p:sp>
      <p:sp>
        <p:nvSpPr>
          <p:cNvPr id="18" name="Text 16"/>
          <p:cNvSpPr/>
          <p:nvPr/>
        </p:nvSpPr>
        <p:spPr>
          <a:xfrm>
            <a:off x="8341157" y="3017520"/>
            <a:ext cx="3027578" cy="274320"/>
          </a:xfrm>
          <a:prstGeom prst="rect">
            <a:avLst/>
          </a:prstGeom>
          <a:noFill/>
          <a:ln/>
        </p:spPr>
        <p:txBody>
          <a:bodyPr wrap="square" lIns="0" tIns="0" rIns="0" bIns="0" rtlCol="0" anchor="ctr"/>
          <a:lstStyle/>
          <a:p>
            <a:pPr marL="0" indent="0">
              <a:buNone/>
            </a:pPr>
            <a:r>
              <a:rPr lang="en-US" sz="1000" dirty="0">
                <a:solidFill>
                  <a:srgbClr val="9B2A3A"/>
                </a:solidFill>
                <a:latin typeface="Consolas" pitchFamily="34" charset="0"/>
                <a:ea typeface="Consolas" pitchFamily="34" charset="-122"/>
                <a:cs typeface="Consolas" pitchFamily="34" charset="-120"/>
              </a:rPr>
              <a:t>tests/</a:t>
            </a:r>
            <a:endParaRPr lang="en-US" sz="1000" dirty="0"/>
          </a:p>
        </p:txBody>
      </p:sp>
      <p:sp>
        <p:nvSpPr>
          <p:cNvPr id="19" name="Text 17"/>
          <p:cNvSpPr/>
          <p:nvPr/>
        </p:nvSpPr>
        <p:spPr>
          <a:xfrm>
            <a:off x="8341157" y="3337560"/>
            <a:ext cx="3027578" cy="1965960"/>
          </a:xfrm>
          <a:prstGeom prst="rect">
            <a:avLst/>
          </a:prstGeom>
          <a:noFill/>
          <a:ln/>
        </p:spPr>
        <p:txBody>
          <a:bodyPr wrap="square" lIns="0" tIns="0" rIns="0" bIns="0" rtlCol="0" anchor="ctr"/>
          <a:lstStyle/>
          <a:p>
            <a:pPr marL="0" indent="0">
              <a:buNone/>
            </a:pPr>
            <a:r>
              <a:rPr lang="en-US" sz="1300" dirty="0">
                <a:solidFill>
                  <a:srgbClr val="2A2218"/>
                </a:solidFill>
                <a:latin typeface="Calibri" pitchFamily="34" charset="0"/>
                <a:ea typeface="Calibri" pitchFamily="34" charset="-122"/>
                <a:cs typeface="Calibri" pitchFamily="34" charset="-120"/>
              </a:rPr>
              <a:t>Pytest coverage for the router, state manager, retry/abort behavior, and rules resolution. The system keeps working as the rest of the team makes changes.</a:t>
            </a:r>
            <a:endParaRPr lang="en-US" sz="1300" dirty="0"/>
          </a:p>
        </p:txBody>
      </p:sp>
      <p:sp>
        <p:nvSpPr>
          <p:cNvPr id="20" name="Text 18"/>
          <p:cNvSpPr/>
          <p:nvPr/>
        </p:nvSpPr>
        <p:spPr>
          <a:xfrm>
            <a:off x="548640" y="5852160"/>
            <a:ext cx="11094415" cy="457200"/>
          </a:xfrm>
          <a:prstGeom prst="rect">
            <a:avLst/>
          </a:prstGeom>
          <a:noFill/>
          <a:ln/>
        </p:spPr>
        <p:txBody>
          <a:bodyPr wrap="square" lIns="0" tIns="0" rIns="0" bIns="0" rtlCol="0" anchor="ctr"/>
          <a:lstStyle/>
          <a:p>
            <a:pPr marL="0" indent="0" algn="ctr">
              <a:buNone/>
            </a:pPr>
            <a:r>
              <a:rPr lang="en-US" sz="1400" i="1" dirty="0">
                <a:solidFill>
                  <a:srgbClr val="746851"/>
                </a:solidFill>
                <a:latin typeface="Calibri" pitchFamily="34" charset="0"/>
                <a:ea typeface="Calibri" pitchFamily="34" charset="-122"/>
                <a:cs typeface="Calibri" pitchFamily="34" charset="-120"/>
              </a:rPr>
              <a:t>Critic + State Updater + tests = the system stops drifting as it grows.</a:t>
            </a:r>
            <a:endParaRPr lang="en-US" sz="1400" dirty="0"/>
          </a:p>
        </p:txBody>
      </p:sp>
      <p:sp>
        <p:nvSpPr>
          <p:cNvPr id="21" name="Text 19"/>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22" name="Text 20"/>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100" b="1" kern="0" spc="600" dirty="0">
                <a:solidFill>
                  <a:srgbClr val="9B2A3A"/>
                </a:solidFill>
                <a:latin typeface="Calibri" pitchFamily="34" charset="0"/>
                <a:ea typeface="Calibri" pitchFamily="34" charset="-122"/>
                <a:cs typeface="Calibri" pitchFamily="34" charset="-120"/>
              </a:rPr>
              <a:t>HONEST SCOPE</a:t>
            </a:r>
            <a:endParaRPr lang="en-US" sz="1100" dirty="0"/>
          </a:p>
        </p:txBody>
      </p:sp>
      <p:sp>
        <p:nvSpPr>
          <p:cNvPr id="4" name="Text 2"/>
          <p:cNvSpPr/>
          <p:nvPr/>
        </p:nvSpPr>
        <p:spPr>
          <a:xfrm>
            <a:off x="548640" y="914400"/>
            <a:ext cx="11094415" cy="1097280"/>
          </a:xfrm>
          <a:prstGeom prst="rect">
            <a:avLst/>
          </a:prstGeom>
          <a:noFill/>
          <a:ln/>
        </p:spPr>
        <p:txBody>
          <a:bodyPr wrap="square" lIns="0" tIns="0" rIns="0" bIns="0" rtlCol="0" anchor="ctr"/>
          <a:lstStyle/>
          <a:p>
            <a:pPr marL="0" indent="0">
              <a:buNone/>
            </a:pPr>
            <a:r>
              <a:rPr lang="en-US" sz="3200" b="1" dirty="0">
                <a:solidFill>
                  <a:srgbClr val="2A2218"/>
                </a:solidFill>
                <a:latin typeface="Georgia" pitchFamily="34" charset="0"/>
                <a:ea typeface="Georgia" pitchFamily="34" charset="-122"/>
                <a:cs typeface="Georgia" pitchFamily="34" charset="-120"/>
              </a:rPr>
              <a:t>What works today. What's next.</a:t>
            </a:r>
            <a:endParaRPr lang="en-US" sz="3200" dirty="0"/>
          </a:p>
        </p:txBody>
      </p:sp>
      <p:sp>
        <p:nvSpPr>
          <p:cNvPr id="5" name="Shape 3"/>
          <p:cNvSpPr/>
          <p:nvPr/>
        </p:nvSpPr>
        <p:spPr>
          <a:xfrm>
            <a:off x="548640" y="2194560"/>
            <a:ext cx="5364328" cy="3840480"/>
          </a:xfrm>
          <a:prstGeom prst="rect">
            <a:avLst/>
          </a:prstGeom>
          <a:solidFill>
            <a:srgbClr val="FFFFFF"/>
          </a:solidFill>
          <a:ln w="15875">
            <a:solidFill>
              <a:srgbClr val="4C8A6E"/>
            </a:solidFill>
            <a:prstDash val="solid"/>
          </a:ln>
        </p:spPr>
        <p:txBody>
          <a:bodyPr/>
          <a:lstStyle/>
          <a:p>
            <a:endParaRPr lang="en-US"/>
          </a:p>
        </p:txBody>
      </p:sp>
      <p:sp>
        <p:nvSpPr>
          <p:cNvPr id="6" name="Text 4"/>
          <p:cNvSpPr/>
          <p:nvPr/>
        </p:nvSpPr>
        <p:spPr>
          <a:xfrm>
            <a:off x="822960" y="2423160"/>
            <a:ext cx="4815688" cy="365760"/>
          </a:xfrm>
          <a:prstGeom prst="rect">
            <a:avLst/>
          </a:prstGeom>
          <a:noFill/>
          <a:ln/>
        </p:spPr>
        <p:txBody>
          <a:bodyPr wrap="square" lIns="0" tIns="0" rIns="0" bIns="0" rtlCol="0" anchor="ctr"/>
          <a:lstStyle/>
          <a:p>
            <a:pPr marL="0" indent="0">
              <a:buNone/>
            </a:pPr>
            <a:r>
              <a:rPr lang="en-US" sz="1200" b="1" kern="0" spc="600" dirty="0">
                <a:solidFill>
                  <a:srgbClr val="4C8A6E"/>
                </a:solidFill>
                <a:latin typeface="Calibri" pitchFamily="34" charset="0"/>
                <a:ea typeface="Calibri" pitchFamily="34" charset="-122"/>
                <a:cs typeface="Calibri" pitchFamily="34" charset="-120"/>
              </a:rPr>
              <a:t>DONE</a:t>
            </a:r>
            <a:endParaRPr lang="en-US" sz="1200" dirty="0"/>
          </a:p>
        </p:txBody>
      </p:sp>
      <p:sp>
        <p:nvSpPr>
          <p:cNvPr id="7" name="Text 5"/>
          <p:cNvSpPr/>
          <p:nvPr/>
        </p:nvSpPr>
        <p:spPr>
          <a:xfrm>
            <a:off x="914400" y="2880360"/>
            <a:ext cx="4724248" cy="292608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Orchestrator + Router + State Manager</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Lore, NPC, and Quest agents (PydanticAI)</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Rules Agent and Critic Agent</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Seed data for the Oakshade scenario</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Retrieval layer bridging state ⇄ agents</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Test suite for routing, state, retries</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FastAPI backend + browser demo</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End-to-end notebook demo</a:t>
            </a:r>
            <a:endParaRPr lang="en-US" sz="1400" dirty="0"/>
          </a:p>
        </p:txBody>
      </p:sp>
      <p:sp>
        <p:nvSpPr>
          <p:cNvPr id="8" name="Shape 6"/>
          <p:cNvSpPr/>
          <p:nvPr/>
        </p:nvSpPr>
        <p:spPr>
          <a:xfrm>
            <a:off x="6278728" y="2194560"/>
            <a:ext cx="5364328" cy="3840480"/>
          </a:xfrm>
          <a:prstGeom prst="rect">
            <a:avLst/>
          </a:prstGeom>
          <a:solidFill>
            <a:srgbClr val="FFFFFF"/>
          </a:solidFill>
          <a:ln w="15875">
            <a:solidFill>
              <a:srgbClr val="9B2A3A"/>
            </a:solidFill>
            <a:prstDash val="solid"/>
          </a:ln>
        </p:spPr>
        <p:txBody>
          <a:bodyPr/>
          <a:lstStyle/>
          <a:p>
            <a:endParaRPr lang="en-US"/>
          </a:p>
        </p:txBody>
      </p:sp>
      <p:sp>
        <p:nvSpPr>
          <p:cNvPr id="9" name="Text 7"/>
          <p:cNvSpPr/>
          <p:nvPr/>
        </p:nvSpPr>
        <p:spPr>
          <a:xfrm>
            <a:off x="6553048" y="2423160"/>
            <a:ext cx="4815688" cy="365760"/>
          </a:xfrm>
          <a:prstGeom prst="rect">
            <a:avLst/>
          </a:prstGeom>
          <a:noFill/>
          <a:ln/>
        </p:spPr>
        <p:txBody>
          <a:bodyPr wrap="square" lIns="0" tIns="0" rIns="0" bIns="0" rtlCol="0" anchor="ctr"/>
          <a:lstStyle/>
          <a:p>
            <a:pPr marL="0" indent="0">
              <a:buNone/>
            </a:pPr>
            <a:r>
              <a:rPr lang="en-US" sz="1200" b="1" kern="0" spc="600" dirty="0">
                <a:solidFill>
                  <a:srgbClr val="9B2A3A"/>
                </a:solidFill>
                <a:latin typeface="Calibri" pitchFamily="34" charset="0"/>
                <a:ea typeface="Calibri" pitchFamily="34" charset="-122"/>
                <a:cs typeface="Calibri" pitchFamily="34" charset="-120"/>
              </a:rPr>
              <a:t>NOT YET</a:t>
            </a:r>
            <a:endParaRPr lang="en-US" sz="1200" dirty="0"/>
          </a:p>
        </p:txBody>
      </p:sp>
      <p:sp>
        <p:nvSpPr>
          <p:cNvPr id="10" name="Text 8"/>
          <p:cNvSpPr/>
          <p:nvPr/>
        </p:nvSpPr>
        <p:spPr>
          <a:xfrm>
            <a:off x="6644488" y="2194560"/>
            <a:ext cx="4724248" cy="292608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Narrator agent (final prose rendering)</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Persistent NPC memory across sessions</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Combat balancing and richer rules</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Multi-location travel and exploration</a:t>
            </a:r>
            <a:endParaRPr lang="en-US" sz="1400" dirty="0"/>
          </a:p>
          <a:p>
            <a:pPr marL="342900" indent="-342900">
              <a:spcAft>
                <a:spcPts val="600"/>
              </a:spcAft>
              <a:buSzPct val="100000"/>
              <a:buChar char="•"/>
            </a:pPr>
            <a:r>
              <a:rPr lang="en-US" sz="1400" dirty="0">
                <a:solidFill>
                  <a:srgbClr val="2A2218"/>
                </a:solidFill>
                <a:latin typeface="Calibri" pitchFamily="34" charset="0"/>
                <a:ea typeface="Calibri" pitchFamily="34" charset="-122"/>
                <a:cs typeface="Calibri" pitchFamily="34" charset="-120"/>
              </a:rPr>
              <a:t>More NPCs, more quests, deeper branching</a:t>
            </a:r>
            <a:endParaRPr lang="en-US" sz="1400" dirty="0"/>
          </a:p>
        </p:txBody>
      </p:sp>
      <p:sp>
        <p:nvSpPr>
          <p:cNvPr id="11" name="Text 9"/>
          <p:cNvSpPr/>
          <p:nvPr/>
        </p:nvSpPr>
        <p:spPr>
          <a:xfrm>
            <a:off x="548640" y="6446520"/>
            <a:ext cx="4572000" cy="274320"/>
          </a:xfrm>
          <a:prstGeom prst="rect">
            <a:avLst/>
          </a:prstGeom>
          <a:noFill/>
          <a:ln/>
        </p:spPr>
        <p:txBody>
          <a:bodyPr wrap="square" lIns="0" tIns="0" rIns="0" bIns="0" rtlCol="0" anchor="ctr"/>
          <a:lstStyle/>
          <a:p>
            <a:pPr marL="0" indent="0">
              <a:buNone/>
            </a:pPr>
            <a:r>
              <a:rPr lang="en-US" sz="900" kern="0" spc="400" dirty="0">
                <a:solidFill>
                  <a:srgbClr val="746851"/>
                </a:solidFill>
                <a:latin typeface="Calibri" pitchFamily="34" charset="0"/>
                <a:ea typeface="Calibri" pitchFamily="34" charset="-122"/>
                <a:cs typeface="Calibri" pitchFamily="34" charset="-120"/>
              </a:rPr>
              <a:t>THE SHATTERED VALE</a:t>
            </a:r>
            <a:endParaRPr lang="en-US" sz="900" dirty="0"/>
          </a:p>
        </p:txBody>
      </p:sp>
      <p:sp>
        <p:nvSpPr>
          <p:cNvPr id="12" name="Text 10"/>
          <p:cNvSpPr/>
          <p:nvPr/>
        </p:nvSpPr>
        <p:spPr>
          <a:xfrm>
            <a:off x="10728655" y="6446520"/>
            <a:ext cx="914400" cy="274320"/>
          </a:xfrm>
          <a:prstGeom prst="rect">
            <a:avLst/>
          </a:prstGeom>
          <a:noFill/>
          <a:ln/>
        </p:spPr>
        <p:txBody>
          <a:bodyPr wrap="square" lIns="0" tIns="0" rIns="0" bIns="0" rtlCol="0" anchor="ctr"/>
          <a:lstStyle/>
          <a:p>
            <a:pPr marL="0" indent="0" algn="r">
              <a:buNone/>
            </a:pPr>
            <a:r>
              <a:rPr lang="en-US" sz="900" dirty="0">
                <a:solidFill>
                  <a:srgbClr val="746851"/>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41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A24B"/>
          </a:solidFill>
          <a:ln w="12700">
            <a:solidFill>
              <a:srgbClr val="C8A24B"/>
            </a:solidFill>
            <a:prstDash val="solid"/>
          </a:ln>
        </p:spPr>
        <p:txBody>
          <a:bodyPr/>
          <a:lstStyle/>
          <a:p>
            <a:endParaRPr lang="en-US"/>
          </a:p>
        </p:txBody>
      </p:sp>
      <p:sp>
        <p:nvSpPr>
          <p:cNvPr id="3" name="Text 1"/>
          <p:cNvSpPr/>
          <p:nvPr/>
        </p:nvSpPr>
        <p:spPr>
          <a:xfrm>
            <a:off x="1097280" y="1005840"/>
            <a:ext cx="10058400" cy="365760"/>
          </a:xfrm>
          <a:prstGeom prst="rect">
            <a:avLst/>
          </a:prstGeom>
          <a:noFill/>
          <a:ln/>
        </p:spPr>
        <p:txBody>
          <a:bodyPr wrap="square" lIns="0" tIns="0" rIns="0" bIns="0" rtlCol="0" anchor="ctr"/>
          <a:lstStyle/>
          <a:p>
            <a:pPr marL="0" indent="0">
              <a:buNone/>
            </a:pPr>
            <a:r>
              <a:rPr lang="en-US" sz="1300" b="1" kern="0" spc="800" dirty="0">
                <a:solidFill>
                  <a:srgbClr val="C8A24B"/>
                </a:solidFill>
                <a:latin typeface="Calibri" pitchFamily="34" charset="0"/>
                <a:ea typeface="Calibri" pitchFamily="34" charset="-122"/>
                <a:cs typeface="Calibri" pitchFamily="34" charset="-120"/>
              </a:rPr>
              <a:t>THE TAKEAWAY</a:t>
            </a:r>
            <a:endParaRPr lang="en-US" sz="1300" dirty="0"/>
          </a:p>
        </p:txBody>
      </p:sp>
      <p:sp>
        <p:nvSpPr>
          <p:cNvPr id="4" name="Text 2"/>
          <p:cNvSpPr/>
          <p:nvPr/>
        </p:nvSpPr>
        <p:spPr>
          <a:xfrm>
            <a:off x="1097280" y="1463040"/>
            <a:ext cx="10058400" cy="914400"/>
          </a:xfrm>
          <a:prstGeom prst="rect">
            <a:avLst/>
          </a:prstGeom>
          <a:noFill/>
          <a:ln/>
        </p:spPr>
        <p:txBody>
          <a:bodyPr wrap="square" lIns="0" tIns="0" rIns="0" bIns="0" rtlCol="0" anchor="ctr"/>
          <a:lstStyle/>
          <a:p>
            <a:pPr marL="0" indent="0">
              <a:buNone/>
            </a:pPr>
            <a:r>
              <a:rPr lang="en-US" sz="4400" b="1" i="1" dirty="0">
                <a:solidFill>
                  <a:srgbClr val="F1E6CF"/>
                </a:solidFill>
                <a:latin typeface="Georgia" pitchFamily="34" charset="0"/>
                <a:ea typeface="Georgia" pitchFamily="34" charset="-122"/>
                <a:cs typeface="Georgia" pitchFamily="34" charset="-120"/>
              </a:rPr>
              <a:t>This isn't really about D&amp;D.</a:t>
            </a:r>
            <a:endParaRPr lang="en-US" sz="4400" dirty="0"/>
          </a:p>
        </p:txBody>
      </p:sp>
      <p:sp>
        <p:nvSpPr>
          <p:cNvPr id="5" name="Text 3"/>
          <p:cNvSpPr/>
          <p:nvPr/>
        </p:nvSpPr>
        <p:spPr>
          <a:xfrm>
            <a:off x="1097280" y="2514600"/>
            <a:ext cx="10058400" cy="1371600"/>
          </a:xfrm>
          <a:prstGeom prst="rect">
            <a:avLst/>
          </a:prstGeom>
          <a:noFill/>
          <a:ln/>
        </p:spPr>
        <p:txBody>
          <a:bodyPr wrap="square" lIns="0" tIns="0" rIns="0" bIns="0" rtlCol="0" anchor="ctr"/>
          <a:lstStyle/>
          <a:p>
            <a:pPr marL="0" indent="0">
              <a:buNone/>
            </a:pPr>
            <a:r>
              <a:rPr lang="en-US" sz="1800" i="1" dirty="0">
                <a:solidFill>
                  <a:srgbClr val="B9A985"/>
                </a:solidFill>
                <a:latin typeface="Calibri" pitchFamily="34" charset="0"/>
                <a:ea typeface="Calibri" pitchFamily="34" charset="-122"/>
                <a:cs typeface="Calibri" pitchFamily="34" charset="-120"/>
              </a:rPr>
              <a:t>The architectural pattern — a deterministic supervisor coordinating bounded specialist agents around a single-writer canonical state — is how serious multi-agent AI systems are starting to be built for problems that look nothing like a tabletop RPG.</a:t>
            </a:r>
            <a:endParaRPr lang="en-US" sz="1800" dirty="0"/>
          </a:p>
        </p:txBody>
      </p:sp>
      <p:sp>
        <p:nvSpPr>
          <p:cNvPr id="6" name="Shape 4"/>
          <p:cNvSpPr/>
          <p:nvPr/>
        </p:nvSpPr>
        <p:spPr>
          <a:xfrm>
            <a:off x="1097280" y="4069080"/>
            <a:ext cx="3210458" cy="1280160"/>
          </a:xfrm>
          <a:prstGeom prst="rect">
            <a:avLst/>
          </a:prstGeom>
          <a:solidFill>
            <a:srgbClr val="241B14"/>
          </a:solidFill>
          <a:ln w="9525">
            <a:solidFill>
              <a:srgbClr val="8A7335"/>
            </a:solidFill>
            <a:prstDash val="solid"/>
          </a:ln>
        </p:spPr>
        <p:txBody>
          <a:bodyPr/>
          <a:lstStyle/>
          <a:p>
            <a:endParaRPr lang="en-US"/>
          </a:p>
        </p:txBody>
      </p:sp>
      <p:sp>
        <p:nvSpPr>
          <p:cNvPr id="7" name="Text 5"/>
          <p:cNvSpPr/>
          <p:nvPr/>
        </p:nvSpPr>
        <p:spPr>
          <a:xfrm>
            <a:off x="1325880" y="4297680"/>
            <a:ext cx="2753258" cy="411480"/>
          </a:xfrm>
          <a:prstGeom prst="rect">
            <a:avLst/>
          </a:prstGeom>
          <a:noFill/>
          <a:ln/>
        </p:spPr>
        <p:txBody>
          <a:bodyPr wrap="square" lIns="0" tIns="0" rIns="0" bIns="0" rtlCol="0" anchor="ctr"/>
          <a:lstStyle/>
          <a:p>
            <a:pPr marL="0" indent="0">
              <a:buNone/>
            </a:pPr>
            <a:r>
              <a:rPr lang="en-US" sz="1900" b="1" dirty="0">
                <a:solidFill>
                  <a:srgbClr val="C8A24B"/>
                </a:solidFill>
                <a:latin typeface="Georgia" pitchFamily="34" charset="0"/>
                <a:ea typeface="Georgia" pitchFamily="34" charset="-122"/>
                <a:cs typeface="Georgia" pitchFamily="34" charset="-120"/>
              </a:rPr>
              <a:t>Customer service</a:t>
            </a:r>
            <a:endParaRPr lang="en-US" sz="1900" dirty="0"/>
          </a:p>
        </p:txBody>
      </p:sp>
      <p:sp>
        <p:nvSpPr>
          <p:cNvPr id="8" name="Text 6"/>
          <p:cNvSpPr/>
          <p:nvPr/>
        </p:nvSpPr>
        <p:spPr>
          <a:xfrm>
            <a:off x="1325880" y="4754880"/>
            <a:ext cx="2753258" cy="640080"/>
          </a:xfrm>
          <a:prstGeom prst="rect">
            <a:avLst/>
          </a:prstGeom>
          <a:noFill/>
          <a:ln/>
        </p:spPr>
        <p:txBody>
          <a:bodyPr wrap="square" lIns="0" tIns="0" rIns="0" bIns="0" rtlCol="0" anchor="ctr"/>
          <a:lstStyle/>
          <a:p>
            <a:pPr marL="0" indent="0">
              <a:buNone/>
            </a:pPr>
            <a:r>
              <a:rPr lang="en-US" sz="1300" i="1" dirty="0">
                <a:solidFill>
                  <a:srgbClr val="B9A985"/>
                </a:solidFill>
                <a:latin typeface="Calibri" pitchFamily="34" charset="0"/>
                <a:ea typeface="Calibri" pitchFamily="34" charset="-122"/>
                <a:cs typeface="Calibri" pitchFamily="34" charset="-120"/>
              </a:rPr>
              <a:t>Triage + specialist + audit</a:t>
            </a:r>
            <a:endParaRPr lang="en-US" sz="1300" dirty="0"/>
          </a:p>
        </p:txBody>
      </p:sp>
      <p:sp>
        <p:nvSpPr>
          <p:cNvPr id="9" name="Shape 7"/>
          <p:cNvSpPr/>
          <p:nvPr/>
        </p:nvSpPr>
        <p:spPr>
          <a:xfrm>
            <a:off x="4490618" y="4069080"/>
            <a:ext cx="3210458" cy="1280160"/>
          </a:xfrm>
          <a:prstGeom prst="rect">
            <a:avLst/>
          </a:prstGeom>
          <a:solidFill>
            <a:srgbClr val="241B14"/>
          </a:solidFill>
          <a:ln w="9525">
            <a:solidFill>
              <a:srgbClr val="8A7335"/>
            </a:solidFill>
            <a:prstDash val="solid"/>
          </a:ln>
        </p:spPr>
        <p:txBody>
          <a:bodyPr/>
          <a:lstStyle/>
          <a:p>
            <a:endParaRPr lang="en-US"/>
          </a:p>
        </p:txBody>
      </p:sp>
      <p:sp>
        <p:nvSpPr>
          <p:cNvPr id="10" name="Text 8"/>
          <p:cNvSpPr/>
          <p:nvPr/>
        </p:nvSpPr>
        <p:spPr>
          <a:xfrm>
            <a:off x="4719218" y="4297680"/>
            <a:ext cx="2753258" cy="411480"/>
          </a:xfrm>
          <a:prstGeom prst="rect">
            <a:avLst/>
          </a:prstGeom>
          <a:noFill/>
          <a:ln/>
        </p:spPr>
        <p:txBody>
          <a:bodyPr wrap="square" lIns="0" tIns="0" rIns="0" bIns="0" rtlCol="0" anchor="ctr"/>
          <a:lstStyle/>
          <a:p>
            <a:pPr marL="0" indent="0">
              <a:buNone/>
            </a:pPr>
            <a:r>
              <a:rPr lang="en-US" sz="1900" b="1" dirty="0">
                <a:solidFill>
                  <a:srgbClr val="C8A24B"/>
                </a:solidFill>
                <a:latin typeface="Georgia" pitchFamily="34" charset="0"/>
                <a:ea typeface="Georgia" pitchFamily="34" charset="-122"/>
                <a:cs typeface="Georgia" pitchFamily="34" charset="-120"/>
              </a:rPr>
              <a:t>Code review</a:t>
            </a:r>
            <a:endParaRPr lang="en-US" sz="1900" dirty="0"/>
          </a:p>
        </p:txBody>
      </p:sp>
      <p:sp>
        <p:nvSpPr>
          <p:cNvPr id="11" name="Text 9"/>
          <p:cNvSpPr/>
          <p:nvPr/>
        </p:nvSpPr>
        <p:spPr>
          <a:xfrm>
            <a:off x="4719218" y="4754880"/>
            <a:ext cx="2753258" cy="640080"/>
          </a:xfrm>
          <a:prstGeom prst="rect">
            <a:avLst/>
          </a:prstGeom>
          <a:noFill/>
          <a:ln/>
        </p:spPr>
        <p:txBody>
          <a:bodyPr wrap="square" lIns="0" tIns="0" rIns="0" bIns="0" rtlCol="0" anchor="ctr"/>
          <a:lstStyle/>
          <a:p>
            <a:pPr marL="0" indent="0">
              <a:buNone/>
            </a:pPr>
            <a:r>
              <a:rPr lang="en-US" sz="1300" i="1" dirty="0">
                <a:solidFill>
                  <a:srgbClr val="B9A985"/>
                </a:solidFill>
                <a:latin typeface="Calibri" pitchFamily="34" charset="0"/>
                <a:ea typeface="Calibri" pitchFamily="34" charset="-122"/>
                <a:cs typeface="Calibri" pitchFamily="34" charset="-120"/>
              </a:rPr>
              <a:t>Lint + reasoning + commit guard</a:t>
            </a:r>
            <a:endParaRPr lang="en-US" sz="1300" dirty="0"/>
          </a:p>
        </p:txBody>
      </p:sp>
      <p:sp>
        <p:nvSpPr>
          <p:cNvPr id="12" name="Shape 10"/>
          <p:cNvSpPr/>
          <p:nvPr/>
        </p:nvSpPr>
        <p:spPr>
          <a:xfrm>
            <a:off x="7883957" y="4069080"/>
            <a:ext cx="3210458" cy="1280160"/>
          </a:xfrm>
          <a:prstGeom prst="rect">
            <a:avLst/>
          </a:prstGeom>
          <a:solidFill>
            <a:srgbClr val="241B14"/>
          </a:solidFill>
          <a:ln w="9525">
            <a:solidFill>
              <a:srgbClr val="8A7335"/>
            </a:solidFill>
            <a:prstDash val="solid"/>
          </a:ln>
        </p:spPr>
        <p:txBody>
          <a:bodyPr/>
          <a:lstStyle/>
          <a:p>
            <a:endParaRPr lang="en-US"/>
          </a:p>
        </p:txBody>
      </p:sp>
      <p:sp>
        <p:nvSpPr>
          <p:cNvPr id="13" name="Text 11"/>
          <p:cNvSpPr/>
          <p:nvPr/>
        </p:nvSpPr>
        <p:spPr>
          <a:xfrm>
            <a:off x="8112557" y="4297680"/>
            <a:ext cx="2753258" cy="411480"/>
          </a:xfrm>
          <a:prstGeom prst="rect">
            <a:avLst/>
          </a:prstGeom>
          <a:noFill/>
          <a:ln/>
        </p:spPr>
        <p:txBody>
          <a:bodyPr wrap="square" lIns="0" tIns="0" rIns="0" bIns="0" rtlCol="0" anchor="ctr"/>
          <a:lstStyle/>
          <a:p>
            <a:pPr marL="0" indent="0">
              <a:buNone/>
            </a:pPr>
            <a:r>
              <a:rPr lang="en-US" sz="1900" b="1" dirty="0">
                <a:solidFill>
                  <a:srgbClr val="C8A24B"/>
                </a:solidFill>
                <a:latin typeface="Georgia" pitchFamily="34" charset="0"/>
                <a:ea typeface="Georgia" pitchFamily="34" charset="-122"/>
                <a:cs typeface="Georgia" pitchFamily="34" charset="-120"/>
              </a:rPr>
              <a:t>Medical triage</a:t>
            </a:r>
            <a:endParaRPr lang="en-US" sz="1900" dirty="0"/>
          </a:p>
        </p:txBody>
      </p:sp>
      <p:sp>
        <p:nvSpPr>
          <p:cNvPr id="14" name="Text 12"/>
          <p:cNvSpPr/>
          <p:nvPr/>
        </p:nvSpPr>
        <p:spPr>
          <a:xfrm>
            <a:off x="8112557" y="4754880"/>
            <a:ext cx="2753258" cy="640080"/>
          </a:xfrm>
          <a:prstGeom prst="rect">
            <a:avLst/>
          </a:prstGeom>
          <a:noFill/>
          <a:ln/>
        </p:spPr>
        <p:txBody>
          <a:bodyPr wrap="square" lIns="0" tIns="0" rIns="0" bIns="0" rtlCol="0" anchor="ctr"/>
          <a:lstStyle/>
          <a:p>
            <a:pPr marL="0" indent="0">
              <a:buNone/>
            </a:pPr>
            <a:r>
              <a:rPr lang="en-US" sz="1300" i="1" dirty="0">
                <a:solidFill>
                  <a:srgbClr val="B9A985"/>
                </a:solidFill>
                <a:latin typeface="Calibri" pitchFamily="34" charset="0"/>
                <a:ea typeface="Calibri" pitchFamily="34" charset="-122"/>
                <a:cs typeface="Calibri" pitchFamily="34" charset="-120"/>
              </a:rPr>
              <a:t>Symptom + retrieval + safety check</a:t>
            </a:r>
            <a:endParaRPr lang="en-US" sz="1300" dirty="0"/>
          </a:p>
        </p:txBody>
      </p:sp>
      <p:sp>
        <p:nvSpPr>
          <p:cNvPr id="15" name="Text 13"/>
          <p:cNvSpPr/>
          <p:nvPr/>
        </p:nvSpPr>
        <p:spPr>
          <a:xfrm>
            <a:off x="1097280" y="5852160"/>
            <a:ext cx="10058400" cy="640080"/>
          </a:xfrm>
          <a:prstGeom prst="rect">
            <a:avLst/>
          </a:prstGeom>
          <a:noFill/>
          <a:ln/>
        </p:spPr>
        <p:txBody>
          <a:bodyPr wrap="square" lIns="0" tIns="0" rIns="0" bIns="0" rtlCol="0" anchor="ctr"/>
          <a:lstStyle/>
          <a:p>
            <a:pPr marL="0" indent="0">
              <a:buNone/>
            </a:pPr>
            <a:r>
              <a:rPr lang="en-US" sz="2200" b="1" i="1" dirty="0">
                <a:solidFill>
                  <a:srgbClr val="9B2A3A"/>
                </a:solidFill>
                <a:latin typeface="Georgia" pitchFamily="34" charset="0"/>
                <a:ea typeface="Georgia" pitchFamily="34" charset="-122"/>
                <a:cs typeface="Georgia"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2472</Words>
  <Application>Microsoft Macintosh PowerPoint</Application>
  <PresentationFormat>Widescreen</PresentationFormat>
  <Paragraphs>227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Shattered Vale — Agentic RPG Game Master</dc:title>
  <dc:subject>PptxGenJS Presentation</dc:subject>
  <dc:creator>Mazin, Christopher, Agnes</dc:creator>
  <cp:lastModifiedBy>Bashier, Mazin A</cp:lastModifiedBy>
  <cp:revision>2</cp:revision>
  <dcterms:created xsi:type="dcterms:W3CDTF">2026-04-25T22:49:29Z</dcterms:created>
  <dcterms:modified xsi:type="dcterms:W3CDTF">2026-04-27T04:36:36Z</dcterms:modified>
</cp:coreProperties>
</file>